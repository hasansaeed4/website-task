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95" r:id="rId2"/>
    <p:sldId id="296" r:id="rId3"/>
    <p:sldId id="294" r:id="rId4"/>
    <p:sldId id="293" r:id="rId5"/>
    <p:sldId id="279" r:id="rId6"/>
    <p:sldId id="281" r:id="rId7"/>
    <p:sldId id="283" r:id="rId8"/>
    <p:sldId id="285" r:id="rId9"/>
    <p:sldId id="287" r:id="rId10"/>
    <p:sldId id="289" r:id="rId11"/>
    <p:sldId id="290" r:id="rId12"/>
    <p:sldId id="291" r:id="rId13"/>
    <p:sldId id="277" r:id="rId14"/>
    <p:sldId id="257" r:id="rId15"/>
    <p:sldId id="258" r:id="rId16"/>
    <p:sldId id="259" r:id="rId17"/>
    <p:sldId id="261" r:id="rId18"/>
    <p:sldId id="260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306" r:id="rId32"/>
    <p:sldId id="298" r:id="rId33"/>
    <p:sldId id="299" r:id="rId34"/>
    <p:sldId id="304" r:id="rId35"/>
    <p:sldId id="305" r:id="rId36"/>
    <p:sldId id="274" r:id="rId3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1" d="100"/>
          <a:sy n="91" d="100"/>
        </p:scale>
        <p:origin x="492" y="84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30CF1C-AE26-444E-957F-395E575675AB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FD461E-C2C1-437B-959B-5C28C76C3A3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D09625-B8EC-4800-964F-CA2C17EC5DD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D461E-C2C1-437B-959B-5C28C76C3A35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774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7F2C-CDBF-4CD3-A645-717C64B27812}" type="datetime1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CD7F1-41F0-4350-8F85-8261AE808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4A4A1-3902-4235-8BA7-4131B9CBB836}" type="datetime1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CD7F1-41F0-4350-8F85-8261AE808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ABA8-903D-4535-A722-FAE5B8B8FD2D}" type="datetime1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CD7F1-41F0-4350-8F85-8261AE808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51C44-953C-4EBD-AC3B-06D6FAF2E9A6}" type="datetime1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CD7F1-41F0-4350-8F85-8261AE808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535113"/>
            <a:ext cx="538763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174875"/>
            <a:ext cx="538763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AEDA1-A326-4622-AC51-40CC668625C2}" type="datetime1">
              <a:rPr lang="en-US" smtClean="0"/>
              <a:pPr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CD7F1-41F0-4350-8F85-8261AE808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12AD-B08B-4DD1-BD81-3A7ED48BE18A}" type="datetime1">
              <a:rPr lang="en-US" smtClean="0"/>
              <a:pPr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CD7F1-41F0-4350-8F85-8261AE808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D0B94-3E9B-43DD-B16F-0BE69654F06E}" type="datetime1">
              <a:rPr lang="en-US" smtClean="0"/>
              <a:pPr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CD7F1-41F0-4350-8F85-8261AE808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273050"/>
            <a:ext cx="401003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1"/>
            <a:ext cx="681389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2" y="1435101"/>
            <a:ext cx="401003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D009D-2DE8-42FB-99B6-1849BFB0C518}" type="datetime1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CD7F1-41F0-4350-8F85-8261AE808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54617-304A-45DB-8C8B-60306BCD242B}" type="datetime1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CD7F1-41F0-4350-8F85-8261AE808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5A192-C334-47B5-97BE-F641958DCCF6}" type="datetime1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CD7F1-41F0-4350-8F85-8261AE808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AEC8-F2B9-40FC-888C-E84D51525187}" type="datetime1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CD7F1-41F0-4350-8F85-8261AE808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1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689A81-99B0-4831-9E2B-EAC2B510D4F4}" type="datetime1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CD7F1-41F0-4350-8F85-8261AE808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asansaeedcontrol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8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7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8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7" Type="http://schemas.openxmlformats.org/officeDocument/2006/relationships/image" Target="../media/image23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2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5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image" Target="../media/image27.wmf"/><Relationship Id="rId7" Type="http://schemas.openxmlformats.org/officeDocument/2006/relationships/image" Target="../media/image29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27.bin"/><Relationship Id="rId9" Type="http://schemas.openxmlformats.org/officeDocument/2006/relationships/image" Target="../media/image30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wmf"/><Relationship Id="rId4" Type="http://schemas.openxmlformats.org/officeDocument/2006/relationships/oleObject" Target="../embeddings/oleObject31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image" Target="../media/image33.wmf"/><Relationship Id="rId7" Type="http://schemas.openxmlformats.org/officeDocument/2006/relationships/image" Target="../media/image35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6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wmf"/><Relationship Id="rId4" Type="http://schemas.openxmlformats.org/officeDocument/2006/relationships/oleObject" Target="../embeddings/oleObject37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image" Target="../media/image45.wmf"/><Relationship Id="rId18" Type="http://schemas.openxmlformats.org/officeDocument/2006/relationships/oleObject" Target="../embeddings/oleObject46.bin"/><Relationship Id="rId3" Type="http://schemas.openxmlformats.org/officeDocument/2006/relationships/image" Target="../media/image40.wmf"/><Relationship Id="rId21" Type="http://schemas.openxmlformats.org/officeDocument/2006/relationships/image" Target="../media/image49.wmf"/><Relationship Id="rId7" Type="http://schemas.openxmlformats.org/officeDocument/2006/relationships/image" Target="../media/image42.wmf"/><Relationship Id="rId12" Type="http://schemas.openxmlformats.org/officeDocument/2006/relationships/oleObject" Target="../embeddings/oleObject43.bin"/><Relationship Id="rId17" Type="http://schemas.openxmlformats.org/officeDocument/2006/relationships/image" Target="../media/image47.wmf"/><Relationship Id="rId2" Type="http://schemas.openxmlformats.org/officeDocument/2006/relationships/oleObject" Target="../embeddings/oleObject38.bin"/><Relationship Id="rId16" Type="http://schemas.openxmlformats.org/officeDocument/2006/relationships/oleObject" Target="../embeddings/oleObject45.bin"/><Relationship Id="rId20" Type="http://schemas.openxmlformats.org/officeDocument/2006/relationships/oleObject" Target="../embeddings/oleObject4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5" Type="http://schemas.openxmlformats.org/officeDocument/2006/relationships/image" Target="../media/image46.wmf"/><Relationship Id="rId23" Type="http://schemas.openxmlformats.org/officeDocument/2006/relationships/image" Target="../media/image50.wmf"/><Relationship Id="rId10" Type="http://schemas.openxmlformats.org/officeDocument/2006/relationships/oleObject" Target="../embeddings/oleObject42.bin"/><Relationship Id="rId19" Type="http://schemas.openxmlformats.org/officeDocument/2006/relationships/image" Target="../media/image48.wmf"/><Relationship Id="rId4" Type="http://schemas.openxmlformats.org/officeDocument/2006/relationships/oleObject" Target="../embeddings/oleObject39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44.bin"/><Relationship Id="rId22" Type="http://schemas.openxmlformats.org/officeDocument/2006/relationships/oleObject" Target="../embeddings/oleObject48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59.wmf"/><Relationship Id="rId3" Type="http://schemas.openxmlformats.org/officeDocument/2006/relationships/image" Target="../media/image54.wmf"/><Relationship Id="rId7" Type="http://schemas.openxmlformats.org/officeDocument/2006/relationships/image" Target="../media/image56.wmf"/><Relationship Id="rId12" Type="http://schemas.openxmlformats.org/officeDocument/2006/relationships/oleObject" Target="../embeddings/oleObject56.bin"/><Relationship Id="rId17" Type="http://schemas.openxmlformats.org/officeDocument/2006/relationships/image" Target="../media/image61.wmf"/><Relationship Id="rId2" Type="http://schemas.openxmlformats.org/officeDocument/2006/relationships/oleObject" Target="../embeddings/oleObject51.bin"/><Relationship Id="rId16" Type="http://schemas.openxmlformats.org/officeDocument/2006/relationships/oleObject" Target="../embeddings/oleObject5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58.wmf"/><Relationship Id="rId5" Type="http://schemas.openxmlformats.org/officeDocument/2006/relationships/image" Target="../media/image55.wmf"/><Relationship Id="rId15" Type="http://schemas.openxmlformats.org/officeDocument/2006/relationships/image" Target="../media/image60.wmf"/><Relationship Id="rId10" Type="http://schemas.openxmlformats.org/officeDocument/2006/relationships/oleObject" Target="../embeddings/oleObject55.bin"/><Relationship Id="rId4" Type="http://schemas.openxmlformats.org/officeDocument/2006/relationships/oleObject" Target="../embeddings/oleObject52.bin"/><Relationship Id="rId9" Type="http://schemas.openxmlformats.org/officeDocument/2006/relationships/image" Target="../media/image57.wmf"/><Relationship Id="rId14" Type="http://schemas.openxmlformats.org/officeDocument/2006/relationships/oleObject" Target="../embeddings/oleObject57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67.wmf"/><Relationship Id="rId18" Type="http://schemas.openxmlformats.org/officeDocument/2006/relationships/oleObject" Target="../embeddings/oleObject67.bin"/><Relationship Id="rId26" Type="http://schemas.openxmlformats.org/officeDocument/2006/relationships/oleObject" Target="../embeddings/oleObject71.bin"/><Relationship Id="rId3" Type="http://schemas.openxmlformats.org/officeDocument/2006/relationships/image" Target="../media/image62.wmf"/><Relationship Id="rId21" Type="http://schemas.openxmlformats.org/officeDocument/2006/relationships/image" Target="../media/image71.wmf"/><Relationship Id="rId7" Type="http://schemas.openxmlformats.org/officeDocument/2006/relationships/image" Target="../media/image64.wmf"/><Relationship Id="rId12" Type="http://schemas.openxmlformats.org/officeDocument/2006/relationships/oleObject" Target="../embeddings/oleObject64.bin"/><Relationship Id="rId17" Type="http://schemas.openxmlformats.org/officeDocument/2006/relationships/image" Target="../media/image69.wmf"/><Relationship Id="rId25" Type="http://schemas.openxmlformats.org/officeDocument/2006/relationships/image" Target="../media/image73.wmf"/><Relationship Id="rId2" Type="http://schemas.openxmlformats.org/officeDocument/2006/relationships/oleObject" Target="../embeddings/oleObject59.bin"/><Relationship Id="rId16" Type="http://schemas.openxmlformats.org/officeDocument/2006/relationships/oleObject" Target="../embeddings/oleObject66.bin"/><Relationship Id="rId20" Type="http://schemas.openxmlformats.org/officeDocument/2006/relationships/oleObject" Target="../embeddings/oleObject6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66.wmf"/><Relationship Id="rId24" Type="http://schemas.openxmlformats.org/officeDocument/2006/relationships/oleObject" Target="../embeddings/oleObject70.bin"/><Relationship Id="rId5" Type="http://schemas.openxmlformats.org/officeDocument/2006/relationships/image" Target="../media/image63.wmf"/><Relationship Id="rId15" Type="http://schemas.openxmlformats.org/officeDocument/2006/relationships/image" Target="../media/image68.wmf"/><Relationship Id="rId23" Type="http://schemas.openxmlformats.org/officeDocument/2006/relationships/image" Target="../media/image72.wmf"/><Relationship Id="rId10" Type="http://schemas.openxmlformats.org/officeDocument/2006/relationships/oleObject" Target="../embeddings/oleObject63.bin"/><Relationship Id="rId19" Type="http://schemas.openxmlformats.org/officeDocument/2006/relationships/image" Target="../media/image70.wmf"/><Relationship Id="rId4" Type="http://schemas.openxmlformats.org/officeDocument/2006/relationships/oleObject" Target="../embeddings/oleObject60.bin"/><Relationship Id="rId9" Type="http://schemas.openxmlformats.org/officeDocument/2006/relationships/image" Target="../media/image65.wmf"/><Relationship Id="rId14" Type="http://schemas.openxmlformats.org/officeDocument/2006/relationships/oleObject" Target="../embeddings/oleObject65.bin"/><Relationship Id="rId22" Type="http://schemas.openxmlformats.org/officeDocument/2006/relationships/oleObject" Target="../embeddings/oleObject69.bin"/><Relationship Id="rId27" Type="http://schemas.openxmlformats.org/officeDocument/2006/relationships/image" Target="../media/image74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oleObject" Target="../embeddings/oleObject73.bin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635" y="214290"/>
            <a:ext cx="11675276" cy="6429420"/>
          </a:xfrm>
        </p:spPr>
        <p:txBody>
          <a:bodyPr/>
          <a:lstStyle/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SYED HASAN SAEED</a:t>
            </a:r>
          </a:p>
          <a:p>
            <a:endParaRPr lang="en-GB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Email: </a:t>
            </a:r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hasansaeedcontrol@gmail.com</a:t>
            </a:r>
            <a:endParaRPr lang="en-GB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Web Page:</a:t>
            </a:r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 hasansaeed872726549.wordpress.com</a:t>
            </a:r>
          </a:p>
          <a:p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shasansaeed.yolasite.com</a:t>
            </a:r>
          </a:p>
          <a:p>
            <a:endParaRPr lang="en-GB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  <a:hlinkClick r:id="rId2"/>
            </a:endParaRPr>
          </a:p>
          <a:p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306B2-EC7E-4BB8-8894-54A4B6770FA7}" type="datetime1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60A1-684A-48DF-84CC-789FBCB3E9E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SYED HASAN SAEED 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635" y="857234"/>
            <a:ext cx="11617555" cy="428627"/>
          </a:xfrm>
        </p:spPr>
        <p:txBody>
          <a:bodyPr>
            <a:noAutofit/>
          </a:bodyPr>
          <a:lstStyle/>
          <a:p>
            <a:r>
              <a:rPr lang="en-GB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BOOKS</a:t>
            </a: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8130" y="785794"/>
            <a:ext cx="11712781" cy="5857916"/>
          </a:xfrm>
        </p:spPr>
        <p:txBody>
          <a:bodyPr>
            <a:normAutofit/>
          </a:bodyPr>
          <a:lstStyle/>
          <a:p>
            <a:pPr marL="514350" indent="-514350" algn="l">
              <a:buFont typeface="+mj-lt"/>
              <a:buAutoNum type="arabicPeriod"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Font typeface="+mj-lt"/>
              <a:buAutoNum type="arabicPeriod"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AUTOMATIC CONTROL SYSTEM: </a:t>
            </a: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KUO &amp; GOLANARAGHI</a:t>
            </a:r>
          </a:p>
          <a:p>
            <a:pPr marL="514350" indent="-514350" algn="l">
              <a:buFont typeface="+mj-lt"/>
              <a:buAutoNum type="arabicPeriod"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/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  CONTROL SYSTEM: </a:t>
            </a: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ANAND KUMAR</a:t>
            </a:r>
          </a:p>
          <a:p>
            <a:pPr marL="514350" indent="-514350" algn="l">
              <a:buFont typeface="+mj-lt"/>
              <a:buAutoNum type="arabicPeriod"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/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  AUTOMATIC CONTROL SYSTEM: </a:t>
            </a: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S. HASAN SAEED</a:t>
            </a:r>
          </a:p>
          <a:p>
            <a:pPr marL="514350" indent="-514350" algn="l">
              <a:buFont typeface="+mj-lt"/>
              <a:buAutoNum type="arabicPeriod"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AutoNum type="arabicPeriod" startAt="4"/>
            </a:pPr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ELECTRICAL MACINE &amp; AUTOMATIC CONTROL: </a:t>
            </a: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J.B.GUPTA  &amp;  S. HASAN SAEED</a:t>
            </a:r>
          </a:p>
          <a:p>
            <a:pPr marL="514350" indent="-514350" algn="l">
              <a:buAutoNum type="arabicPeriod" startAt="4"/>
            </a:pPr>
            <a:endParaRPr lang="en-GB" sz="24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AutoNum type="arabicPeriod" startAt="4"/>
            </a:pPr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AUTOMATIC CONTROL SYSTEM: </a:t>
            </a: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R. A . BARAPATE</a:t>
            </a:r>
            <a:endParaRPr lang="en-US" sz="24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36435-E78B-422D-B0C9-AADEB5893BD0}" type="datetime1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60A1-684A-48DF-84CC-789FBCB3E9E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SYED HASAN SAEED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868" y="228600"/>
            <a:ext cx="10868369" cy="762000"/>
          </a:xfrm>
        </p:spPr>
        <p:txBody>
          <a:bodyPr>
            <a:normAutofit/>
          </a:bodyPr>
          <a:lstStyle/>
          <a:p>
            <a:r>
              <a:rPr lang="en-US" sz="3600" u="sng" dirty="0">
                <a:solidFill>
                  <a:srgbClr val="FF0000"/>
                </a:solidFill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990600"/>
            <a:ext cx="11680957" cy="54102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dirty="0">
                <a:solidFill>
                  <a:srgbClr val="00B050"/>
                </a:solidFill>
              </a:rPr>
              <a:t>Definition of Transfer Function.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solidFill>
                  <a:srgbClr val="00B050"/>
                </a:solidFill>
              </a:rPr>
              <a:t>Poles &amp; Zeros.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solidFill>
                  <a:srgbClr val="00B050"/>
                </a:solidFill>
              </a:rPr>
              <a:t>Characteristic Equation.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solidFill>
                  <a:srgbClr val="00B050"/>
                </a:solidFill>
              </a:rPr>
              <a:t>Advantages of Transfer Function.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solidFill>
                  <a:srgbClr val="00B050"/>
                </a:solidFill>
              </a:rPr>
              <a:t>Mechanical System (</a:t>
            </a:r>
            <a:r>
              <a:rPr lang="en-US" dirty="0" err="1">
                <a:solidFill>
                  <a:srgbClr val="00B050"/>
                </a:solidFill>
              </a:rPr>
              <a:t>i</a:t>
            </a:r>
            <a:r>
              <a:rPr lang="en-US" dirty="0">
                <a:solidFill>
                  <a:srgbClr val="00B050"/>
                </a:solidFill>
              </a:rPr>
              <a:t>) Translational System and (ii) Rotational System.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solidFill>
                  <a:srgbClr val="00B050"/>
                </a:solidFill>
              </a:rPr>
              <a:t> Free Body diagram.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solidFill>
                  <a:srgbClr val="00B050"/>
                </a:solidFill>
              </a:rPr>
              <a:t>Transfer Function of Electrical, Mechanical Systems.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solidFill>
                  <a:srgbClr val="00B050"/>
                </a:solidFill>
              </a:rPr>
              <a:t>D’Alembert Principle. 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endParaRPr lang="en-US" dirty="0"/>
          </a:p>
          <a:p>
            <a:pPr algn="just">
              <a:buFont typeface="Wingdings" pitchFamily="2" charset="2"/>
              <a:buChar char="§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639762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FF0000"/>
                </a:solidFill>
              </a:rPr>
              <a:t>TRANSFER FUNCTION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914401"/>
            <a:ext cx="11782531" cy="5410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transfer function is defined as the ratio of Laplace transform of the output to the Laplace transform of input with all initial conditions are zero.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define the transfer function as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SYED HASAN SAEED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9704694"/>
              </p:ext>
            </p:extLst>
          </p:nvPr>
        </p:nvGraphicFramePr>
        <p:xfrm>
          <a:off x="1370012" y="2286000"/>
          <a:ext cx="9448800" cy="932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25880" imgH="457200" progId="Equation.3">
                  <p:embed/>
                </p:oleObj>
              </mc:Choice>
              <mc:Fallback>
                <p:oleObj name="Equation" r:id="rId3" imgW="4025880" imgH="457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0012" y="2286000"/>
                        <a:ext cx="9448800" cy="9326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2915318-C3AF-78B4-34A4-12C8989F0019}"/>
              </a:ext>
            </a:extLst>
          </p:cNvPr>
          <p:cNvSpPr txBox="1"/>
          <p:nvPr/>
        </p:nvSpPr>
        <p:spPr>
          <a:xfrm>
            <a:off x="531812" y="3279343"/>
            <a:ext cx="11047572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equation (1.0), if the order of the denominator polynomial is greater than the order of the numerator polynomial then the transfer function is said to be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STRICTLY PROPER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If the order of both polynomials are same, then the transfer function is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transfer function is said to be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IMPROPER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if the order of numerator polynomial is greater than the order of the denominator polynomial.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152400"/>
            <a:ext cx="11782531" cy="6172200"/>
          </a:xfrm>
        </p:spPr>
        <p:txBody>
          <a:bodyPr/>
          <a:lstStyle/>
          <a:p>
            <a:pPr algn="just">
              <a:buNone/>
            </a:pPr>
            <a:endParaRPr lang="en-US" sz="2800" dirty="0">
              <a:solidFill>
                <a:srgbClr val="FF0000"/>
              </a:solidFill>
            </a:endParaRPr>
          </a:p>
          <a:p>
            <a:pPr algn="just">
              <a:buNone/>
            </a:pPr>
            <a:endParaRPr lang="en-US" sz="2800" dirty="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US" sz="2800" dirty="0">
                <a:solidFill>
                  <a:srgbClr val="FF0000"/>
                </a:solidFill>
              </a:rPr>
              <a:t>CHARACTERISTIC EQUATION: </a:t>
            </a:r>
            <a:r>
              <a:rPr lang="en-US" sz="2800" dirty="0"/>
              <a:t>The characteristic equation can be obtained by equating the denominator polynomial of the transfer function to zero. That is</a:t>
            </a:r>
          </a:p>
          <a:p>
            <a:pPr algn="just">
              <a:buNone/>
            </a:pP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2150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992934"/>
              </p:ext>
            </p:extLst>
          </p:nvPr>
        </p:nvGraphicFramePr>
        <p:xfrm>
          <a:off x="2268475" y="2438400"/>
          <a:ext cx="765187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19240" imgH="241200" progId="Equation.3">
                  <p:embed/>
                </p:oleObj>
              </mc:Choice>
              <mc:Fallback>
                <p:oleObj name="Equation" r:id="rId2" imgW="2019240" imgH="241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475" y="2438400"/>
                        <a:ext cx="765187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71596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POLES AND ZEROS OF A TRANSFER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914400"/>
            <a:ext cx="11782531" cy="54102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800" dirty="0">
                <a:solidFill>
                  <a:srgbClr val="00B050"/>
                </a:solidFill>
              </a:rPr>
              <a:t>POLES :  </a:t>
            </a:r>
            <a:r>
              <a:rPr lang="en-US" sz="2800" dirty="0"/>
              <a:t>The poles of G(s) are those values of ‘s’ which make G(s) tend to infinity.</a:t>
            </a:r>
          </a:p>
          <a:p>
            <a:pPr algn="just">
              <a:buNone/>
            </a:pPr>
            <a:r>
              <a:rPr lang="en-US" sz="2800" dirty="0">
                <a:solidFill>
                  <a:srgbClr val="00B050"/>
                </a:solidFill>
              </a:rPr>
              <a:t>ZEROS: </a:t>
            </a:r>
            <a:r>
              <a:rPr lang="en-US" sz="2800" dirty="0"/>
              <a:t>The zeros of G(s) are those values of ‘s’ which make G(s) tend to zero. </a:t>
            </a:r>
          </a:p>
          <a:p>
            <a:pPr algn="just">
              <a:buNone/>
            </a:pPr>
            <a:r>
              <a:rPr lang="en-US" sz="2800" dirty="0"/>
              <a:t>If either poles or zeros coincide, then such type of poles or zeros are called multiple poles or zeros, otherwise they are known as simple poles or zeros.</a:t>
            </a:r>
          </a:p>
          <a:p>
            <a:pPr algn="just">
              <a:buNone/>
            </a:pPr>
            <a:r>
              <a:rPr lang="en-US" sz="2800" dirty="0"/>
              <a:t>For example, consider following transfer function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825591" y="4800600"/>
          <a:ext cx="5401866" cy="1046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09400" imgH="419040" progId="Equation.3">
                  <p:embed/>
                </p:oleObj>
              </mc:Choice>
              <mc:Fallback>
                <p:oleObj name="Equation" r:id="rId2" imgW="1409400" imgH="419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591" y="4800600"/>
                        <a:ext cx="5401866" cy="104620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152400"/>
            <a:ext cx="11782531" cy="6172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/>
              <a:t>This transfer function having the simple poles at s=0, s=-2, multiple poles at s=-4 and simple zero at s=-3.</a:t>
            </a:r>
          </a:p>
          <a:p>
            <a:pPr>
              <a:buNone/>
            </a:pPr>
            <a:r>
              <a:rPr lang="en-US" sz="2800" dirty="0">
                <a:solidFill>
                  <a:srgbClr val="00B050"/>
                </a:solidFill>
              </a:rPr>
              <a:t>Advantages of Transfer Function: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Transfer function is a mathematical model of all system components and hence of the overall system and therefore it gives the gain of the system.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Since Laplace transform is used, it converts time domain equations to simple algebraic equations.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With the help of transfer function, poles, zeros and characteristic equation can be determine.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The differential equation of the system can be obtained by replacing ‘s’ with d/</a:t>
            </a:r>
            <a:r>
              <a:rPr lang="en-US" sz="2800" dirty="0" err="1"/>
              <a:t>dt</a:t>
            </a:r>
            <a:r>
              <a:rPr lang="en-US" sz="2800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152400"/>
            <a:ext cx="11782531" cy="6172200"/>
          </a:xfrm>
        </p:spPr>
        <p:txBody>
          <a:bodyPr/>
          <a:lstStyle/>
          <a:p>
            <a:pPr>
              <a:buNone/>
            </a:pPr>
            <a:r>
              <a:rPr lang="en-US" dirty="0">
                <a:solidFill>
                  <a:srgbClr val="00B050"/>
                </a:solidFill>
              </a:rPr>
              <a:t>DISADVANTAGES OF TRANSFER FUNCTION: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Transfer function cannot be defined for non-linear system.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From the Transfer function , physical structure of a system cannot determine.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Initial conditions loose their importance.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304721" y="152400"/>
            <a:ext cx="11579384" cy="60960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sz="3600" dirty="0">
                <a:solidFill>
                  <a:srgbClr val="00B050"/>
                </a:solidFill>
              </a:rPr>
              <a:t>Find the transfer function of the given figure.</a:t>
            </a:r>
            <a:br>
              <a:rPr lang="en-US" dirty="0">
                <a:solidFill>
                  <a:srgbClr val="00B050"/>
                </a:solidFill>
              </a:rPr>
            </a:b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04721" y="838201"/>
            <a:ext cx="11680957" cy="5287963"/>
          </a:xfrm>
        </p:spPr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Solution:</a:t>
            </a:r>
          </a:p>
          <a:p>
            <a:pPr>
              <a:buNone/>
            </a:pPr>
            <a:r>
              <a:rPr lang="en-US" dirty="0"/>
              <a:t>Step 1: Apply KVL in mesh 1 and mesh 2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2234618" y="4038600"/>
          <a:ext cx="6602280" cy="2039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560" imgH="812520" progId="Equation.3">
                  <p:embed/>
                </p:oleObj>
              </mc:Choice>
              <mc:Fallback>
                <p:oleObj name="Equation" r:id="rId2" imgW="1447560" imgH="8125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4618" y="4038600"/>
                        <a:ext cx="6602280" cy="20394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9938" name="Picture 2" descr="E:\Automatic Control Systems\jpg\Fig_1-13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88119" y="1066800"/>
            <a:ext cx="5650303" cy="2057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152401"/>
            <a:ext cx="11782531" cy="6172199"/>
          </a:xfrm>
        </p:spPr>
        <p:txBody>
          <a:bodyPr/>
          <a:lstStyle/>
          <a:p>
            <a:pPr>
              <a:buNone/>
            </a:pPr>
            <a:r>
              <a:rPr lang="en-US" dirty="0"/>
              <a:t>Step 2: take Laplace transform of eq. (1) and (2)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Step 3: calculation of transfer function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Equation (5) is the required transfer function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1808-E3BC-4267-8331-17C95CCEC8B9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523603" y="990600"/>
          <a:ext cx="832903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457200" progId="Equation.3">
                  <p:embed/>
                </p:oleObj>
              </mc:Choice>
              <mc:Fallback>
                <p:oleObj name="Equation" r:id="rId2" imgW="2095200" imgH="457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3603" y="990600"/>
                        <a:ext cx="8329030" cy="121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194879" y="3124200"/>
          <a:ext cx="7048313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01720" imgH="888840" progId="Equation.3">
                  <p:embed/>
                </p:oleObj>
              </mc:Choice>
              <mc:Fallback>
                <p:oleObj name="Equation" r:id="rId4" imgW="1701720" imgH="8888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4879" y="3124200"/>
                        <a:ext cx="7048313" cy="205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228600"/>
            <a:ext cx="11782531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/>
              <a:t>A system having input x(t) and output y(t) is represented by</a:t>
            </a:r>
          </a:p>
          <a:p>
            <a:pPr>
              <a:buNone/>
            </a:pPr>
            <a:r>
              <a:rPr lang="en-US" sz="2800" dirty="0"/>
              <a:t>Equation (1). Find the transfer function of the system.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Solution: taking Laplace transform of equation (1) 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G(s) is the required transfer function</a:t>
            </a:r>
          </a:p>
          <a:p>
            <a:pPr>
              <a:buNone/>
            </a:pP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929898" y="1295400"/>
          <a:ext cx="7667164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76440" imgH="393480" progId="Equation.3">
                  <p:embed/>
                </p:oleObj>
              </mc:Choice>
              <mc:Fallback>
                <p:oleObj name="Equation" r:id="rId2" imgW="2476440" imgH="39348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9898" y="1295400"/>
                        <a:ext cx="7667164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539338" y="2971800"/>
          <a:ext cx="6500707" cy="2449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92160" imgH="1320480" progId="Equation.3">
                  <p:embed/>
                </p:oleObj>
              </mc:Choice>
              <mc:Fallback>
                <p:oleObj name="Equation" r:id="rId4" imgW="1892160" imgH="1320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9338" y="2971800"/>
                        <a:ext cx="6500707" cy="24498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0"/>
            <a:ext cx="11782531" cy="6324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600" dirty="0"/>
              <a:t>The transfer function of the given system is given by</a:t>
            </a:r>
          </a:p>
          <a:p>
            <a:pPr>
              <a:buNone/>
            </a:pPr>
            <a:endParaRPr lang="en-US" sz="2600" dirty="0"/>
          </a:p>
          <a:p>
            <a:pPr>
              <a:buNone/>
            </a:pPr>
            <a:endParaRPr lang="en-US" sz="2600" dirty="0"/>
          </a:p>
          <a:p>
            <a:pPr>
              <a:buNone/>
            </a:pPr>
            <a:r>
              <a:rPr lang="en-US" sz="2600" dirty="0"/>
              <a:t>Find the differential equation of the system having input x(t) and output y(t).</a:t>
            </a:r>
          </a:p>
          <a:p>
            <a:pPr>
              <a:buNone/>
            </a:pPr>
            <a:r>
              <a:rPr lang="en-US" sz="2600" dirty="0"/>
              <a:t>Solution:</a:t>
            </a:r>
          </a:p>
          <a:p>
            <a:pPr>
              <a:buNone/>
            </a:pPr>
            <a:endParaRPr lang="en-US" sz="2600" dirty="0"/>
          </a:p>
          <a:p>
            <a:pPr>
              <a:buNone/>
            </a:pPr>
            <a:endParaRPr lang="en-US" sz="2600" dirty="0"/>
          </a:p>
          <a:p>
            <a:pPr>
              <a:buNone/>
            </a:pPr>
            <a:r>
              <a:rPr lang="en-US" sz="2600" dirty="0"/>
              <a:t>Taking inverse Laplace transform, we have</a:t>
            </a:r>
          </a:p>
          <a:p>
            <a:pPr>
              <a:buNone/>
            </a:pPr>
            <a:endParaRPr lang="en-US" sz="2600" dirty="0"/>
          </a:p>
          <a:p>
            <a:pPr>
              <a:buNone/>
            </a:pPr>
            <a:endParaRPr lang="en-US" sz="2600" dirty="0"/>
          </a:p>
          <a:p>
            <a:pPr>
              <a:buNone/>
            </a:pPr>
            <a:r>
              <a:rPr lang="en-US" sz="2600" dirty="0"/>
              <a:t>Required differential equation is</a:t>
            </a:r>
          </a:p>
          <a:p>
            <a:pPr>
              <a:buNone/>
            </a:pPr>
            <a:endParaRPr lang="en-US" sz="2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758222" y="457201"/>
          <a:ext cx="3047206" cy="796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30040" imgH="393480" progId="Equation.3">
                  <p:embed/>
                </p:oleObj>
              </mc:Choice>
              <mc:Fallback>
                <p:oleObj name="Equation" r:id="rId2" imgW="113004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8222" y="457201"/>
                        <a:ext cx="3047206" cy="7962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009775" y="1816101"/>
          <a:ext cx="8199437" cy="2447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34880" imgH="1143000" progId="Equation.3">
                  <p:embed/>
                </p:oleObj>
              </mc:Choice>
              <mc:Fallback>
                <p:oleObj name="Equation" r:id="rId4" imgW="2234880" imgH="11430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9775" y="1816101"/>
                        <a:ext cx="8199437" cy="24474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625177" y="4191000"/>
          <a:ext cx="6805427" cy="742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47840" imgH="419040" progId="Equation.3">
                  <p:embed/>
                </p:oleObj>
              </mc:Choice>
              <mc:Fallback>
                <p:oleObj name="Equation" r:id="rId6" imgW="2247840" imgH="419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5177" y="4191000"/>
                        <a:ext cx="6805427" cy="742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031472" y="5486400"/>
          <a:ext cx="646684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25680" imgH="419040" progId="Equation.3">
                  <p:embed/>
                </p:oleObj>
              </mc:Choice>
              <mc:Fallback>
                <p:oleObj name="Equation" r:id="rId8" imgW="2425680" imgH="4190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1472" y="5486400"/>
                        <a:ext cx="6466847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147" y="152402"/>
            <a:ext cx="11782531" cy="761999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MECHANICAL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47" y="914400"/>
            <a:ext cx="11782531" cy="5791200"/>
          </a:xfrm>
        </p:spPr>
        <p:txBody>
          <a:bodyPr>
            <a:normAutofit/>
          </a:bodyPr>
          <a:lstStyle/>
          <a:p>
            <a:pPr algn="just"/>
            <a:r>
              <a:rPr lang="en-US" sz="2600" dirty="0">
                <a:solidFill>
                  <a:srgbClr val="00B050"/>
                </a:solidFill>
              </a:rPr>
              <a:t>TRANSLATIONAL SYSTEM: </a:t>
            </a:r>
            <a:r>
              <a:rPr lang="en-US" sz="2600" dirty="0">
                <a:solidFill>
                  <a:schemeClr val="tx1"/>
                </a:solidFill>
              </a:rPr>
              <a:t>The motion takes place along </a:t>
            </a:r>
            <a:r>
              <a:rPr lang="en-US" sz="2600">
                <a:solidFill>
                  <a:schemeClr val="tx1"/>
                </a:solidFill>
              </a:rPr>
              <a:t>a straight </a:t>
            </a:r>
            <a:r>
              <a:rPr lang="en-US" sz="2600" dirty="0">
                <a:solidFill>
                  <a:schemeClr val="tx1"/>
                </a:solidFill>
              </a:rPr>
              <a:t>line is known as translational motion. There are three types of forces that resists motion.</a:t>
            </a:r>
          </a:p>
          <a:p>
            <a:pPr marL="514350" indent="-514350" algn="just"/>
            <a:r>
              <a:rPr lang="en-US" sz="2600" dirty="0">
                <a:solidFill>
                  <a:srgbClr val="92D050"/>
                </a:solidFill>
              </a:rPr>
              <a:t> </a:t>
            </a:r>
            <a:r>
              <a:rPr lang="en-US" sz="2600" dirty="0">
                <a:solidFill>
                  <a:srgbClr val="00B050"/>
                </a:solidFill>
              </a:rPr>
              <a:t>INERTIA  FORCE: </a:t>
            </a:r>
            <a:r>
              <a:rPr lang="en-US" sz="2600" dirty="0">
                <a:solidFill>
                  <a:schemeClr val="tx1"/>
                </a:solidFill>
              </a:rPr>
              <a:t>consider a body of mass ‘M’ and acceleration ‘a’, then according to Newton’s law of motion </a:t>
            </a:r>
          </a:p>
          <a:p>
            <a:pPr marL="514350" indent="-514350" algn="just"/>
            <a:r>
              <a:rPr lang="en-US" sz="2600" dirty="0">
                <a:solidFill>
                  <a:schemeClr val="tx1"/>
                </a:solidFill>
              </a:rPr>
              <a:t>              F</a:t>
            </a:r>
            <a:r>
              <a:rPr lang="en-US" sz="2600" baseline="-25000" dirty="0">
                <a:solidFill>
                  <a:schemeClr val="tx1"/>
                </a:solidFill>
              </a:rPr>
              <a:t>M</a:t>
            </a:r>
            <a:r>
              <a:rPr lang="en-US" sz="2600" dirty="0">
                <a:solidFill>
                  <a:schemeClr val="tx1"/>
                </a:solidFill>
              </a:rPr>
              <a:t>(t)=Ma(t)</a:t>
            </a:r>
          </a:p>
          <a:p>
            <a:pPr marL="514350" indent="-514350" algn="just"/>
            <a:r>
              <a:rPr lang="en-US" sz="2600" dirty="0">
                <a:solidFill>
                  <a:schemeClr val="tx1"/>
                </a:solidFill>
              </a:rPr>
              <a:t>If  v(t) is the velocity and x(t) is the displacement then</a:t>
            </a:r>
          </a:p>
          <a:p>
            <a:pPr marL="514350" indent="-514350" algn="just"/>
            <a:endParaRPr lang="en-US" sz="2600" dirty="0">
              <a:solidFill>
                <a:schemeClr val="tx1"/>
              </a:solidFill>
            </a:endParaRPr>
          </a:p>
          <a:p>
            <a:pPr marL="514350" indent="-514350" algn="just"/>
            <a:endParaRPr lang="en-US" sz="2600" dirty="0">
              <a:solidFill>
                <a:schemeClr val="tx1"/>
              </a:solidFill>
            </a:endParaRPr>
          </a:p>
          <a:p>
            <a:pPr marL="514350" indent="-514350" algn="just"/>
            <a:endParaRPr lang="en-US" sz="2600" dirty="0">
              <a:solidFill>
                <a:schemeClr val="tx1"/>
              </a:solidFill>
            </a:endParaRPr>
          </a:p>
          <a:p>
            <a:pPr marL="514350" indent="-514350" algn="just"/>
            <a:r>
              <a:rPr lang="en-US" sz="2600" dirty="0">
                <a:solidFill>
                  <a:schemeClr val="tx1"/>
                </a:solidFill>
              </a:rPr>
              <a:t>         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218882" y="4114801"/>
          <a:ext cx="3351927" cy="858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080" imgH="393480" progId="Equation.3">
                  <p:embed/>
                </p:oleObj>
              </mc:Choice>
              <mc:Fallback>
                <p:oleObj name="Equation" r:id="rId2" imgW="105408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8882" y="4114801"/>
                        <a:ext cx="3351927" cy="8586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4469236" y="4038600"/>
          <a:ext cx="2234618" cy="938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49160" imgH="419040" progId="Equation.3">
                  <p:embed/>
                </p:oleObj>
              </mc:Choice>
              <mc:Fallback>
                <p:oleObj name="Equation" r:id="rId4" imgW="749160" imgH="419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9236" y="4038600"/>
                        <a:ext cx="2234618" cy="9387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6648" y="5410200"/>
            <a:ext cx="1726750" cy="685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5383397" y="5744184"/>
            <a:ext cx="121888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2" idx="1"/>
          </p:cNvCxnSpPr>
          <p:nvPr/>
        </p:nvCxnSpPr>
        <p:spPr>
          <a:xfrm rot="10800000" flipV="1">
            <a:off x="2742486" y="5791200"/>
            <a:ext cx="914162" cy="0"/>
          </a:xfrm>
          <a:prstGeom prst="line">
            <a:avLst/>
          </a:prstGeom>
          <a:ln w="19050">
            <a:solidFill>
              <a:schemeClr val="tx1">
                <a:alpha val="9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66089" y="5562600"/>
            <a:ext cx="812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graphicFrame>
        <p:nvGraphicFramePr>
          <p:cNvPr id="22" name="Object 21"/>
          <p:cNvGraphicFramePr>
            <a:graphicFrameLocks noChangeAspect="1"/>
          </p:cNvGraphicFramePr>
          <p:nvPr/>
        </p:nvGraphicFramePr>
        <p:xfrm>
          <a:off x="5789692" y="5105400"/>
          <a:ext cx="677157" cy="314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9360" imgH="203040" progId="Equation.3">
                  <p:embed/>
                </p:oleObj>
              </mc:Choice>
              <mc:Fallback>
                <p:oleObj name="Equation" r:id="rId6" imgW="27936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9692" y="5105400"/>
                        <a:ext cx="677157" cy="3140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6805429" y="5562600"/>
          <a:ext cx="609441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7160" imgH="203040" progId="Equation.3">
                  <p:embed/>
                </p:oleObj>
              </mc:Choice>
              <mc:Fallback>
                <p:oleObj name="Equation" r:id="rId8" imgW="317160" imgH="203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5429" y="5562600"/>
                        <a:ext cx="609441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Straight Arrow Connector 24"/>
          <p:cNvCxnSpPr/>
          <p:nvPr/>
        </p:nvCxnSpPr>
        <p:spPr>
          <a:xfrm>
            <a:off x="5383398" y="5257800"/>
            <a:ext cx="406294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907001" y="5943600"/>
            <a:ext cx="609441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152400"/>
            <a:ext cx="11680957" cy="6477000"/>
          </a:xfr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US" sz="2800" dirty="0">
                <a:solidFill>
                  <a:srgbClr val="00B050"/>
                </a:solidFill>
              </a:rPr>
              <a:t>DAMPING FORCE: </a:t>
            </a:r>
            <a:r>
              <a:rPr lang="en-US" sz="2800" dirty="0"/>
              <a:t>For viscous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/>
              <a:t>friction we  assume that the damping force is proportional to the velocity.</a:t>
            </a:r>
          </a:p>
          <a:p>
            <a:pPr>
              <a:buNone/>
            </a:pPr>
            <a:r>
              <a:rPr lang="en-US" sz="2800" dirty="0"/>
              <a:t>  </a:t>
            </a:r>
          </a:p>
          <a:p>
            <a:pPr>
              <a:buNone/>
            </a:pPr>
            <a:r>
              <a:rPr lang="en-US" sz="2800" dirty="0"/>
              <a:t> F</a:t>
            </a:r>
            <a:r>
              <a:rPr lang="en-US" sz="2800" baseline="-25000" dirty="0"/>
              <a:t>D</a:t>
            </a:r>
            <a:r>
              <a:rPr lang="en-US" sz="2800" dirty="0"/>
              <a:t>(t)=B v(t) 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Where B= Damping Coefficient in N/m/sec.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We  can represent ‘B’ by a dashpot consists of piston and cylinder.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979612" y="1524000"/>
          <a:ext cx="152360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9480" imgH="393480" progId="Equation.3">
                  <p:embed/>
                </p:oleObj>
              </mc:Choice>
              <mc:Fallback>
                <p:oleObj name="Equation" r:id="rId2" imgW="60948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2" y="1524000"/>
                        <a:ext cx="1523603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5"/>
          <p:cNvGrpSpPr/>
          <p:nvPr/>
        </p:nvGrpSpPr>
        <p:grpSpPr>
          <a:xfrm>
            <a:off x="1117309" y="3276600"/>
            <a:ext cx="4469236" cy="1068388"/>
            <a:chOff x="1117309" y="3276600"/>
            <a:chExt cx="4469236" cy="1068388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2945633" y="3657600"/>
              <a:ext cx="1726750" cy="1588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5400000">
              <a:off x="4329483" y="4000235"/>
              <a:ext cx="685800" cy="2117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3047206" y="4343400"/>
              <a:ext cx="1625177" cy="1588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5400000">
              <a:off x="3720042" y="4000235"/>
              <a:ext cx="685800" cy="2117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5400000">
              <a:off x="3415321" y="4000235"/>
              <a:ext cx="685800" cy="2117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rot="10800000">
              <a:off x="2336191" y="3962400"/>
              <a:ext cx="1422030" cy="1588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4672383" y="3962400"/>
              <a:ext cx="914162" cy="1588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rot="10800000">
              <a:off x="2031471" y="4114800"/>
              <a:ext cx="50786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rot="10800000">
              <a:off x="2640912" y="3505200"/>
              <a:ext cx="40629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2" name="Object 31"/>
            <p:cNvGraphicFramePr>
              <a:graphicFrameLocks noChangeAspect="1"/>
            </p:cNvGraphicFramePr>
            <p:nvPr/>
          </p:nvGraphicFramePr>
          <p:xfrm>
            <a:off x="1117309" y="3962400"/>
            <a:ext cx="914162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80880" imgH="215640" progId="Equation.3">
                    <p:embed/>
                  </p:oleObj>
                </mc:Choice>
                <mc:Fallback>
                  <p:oleObj name="Equation" r:id="rId4" imgW="380880" imgH="21564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7309" y="3962400"/>
                          <a:ext cx="914162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32"/>
            <p:cNvGraphicFramePr>
              <a:graphicFrameLocks noChangeAspect="1"/>
            </p:cNvGraphicFramePr>
            <p:nvPr/>
          </p:nvGraphicFramePr>
          <p:xfrm>
            <a:off x="1828324" y="3276600"/>
            <a:ext cx="812588" cy="4289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79360" imgH="203040" progId="Equation.3">
                    <p:embed/>
                  </p:oleObj>
                </mc:Choice>
                <mc:Fallback>
                  <p:oleObj name="Equation" r:id="rId6" imgW="279360" imgH="20304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8324" y="3276600"/>
                          <a:ext cx="812588" cy="42897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152400"/>
            <a:ext cx="11782531" cy="6477000"/>
          </a:xfrm>
        </p:spPr>
        <p:txBody>
          <a:bodyPr/>
          <a:lstStyle/>
          <a:p>
            <a:pPr algn="just">
              <a:buNone/>
            </a:pPr>
            <a:r>
              <a:rPr lang="en-US" dirty="0">
                <a:solidFill>
                  <a:srgbClr val="00B050"/>
                </a:solidFill>
              </a:rPr>
              <a:t>SPRING FORCE:</a:t>
            </a:r>
            <a:r>
              <a:rPr lang="en-US" dirty="0"/>
              <a:t>A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spring stores the potential energy. The restoring force of a spring is proportional to the displacement.</a:t>
            </a:r>
          </a:p>
          <a:p>
            <a:pPr algn="just">
              <a:buNone/>
            </a:pPr>
            <a:r>
              <a:rPr lang="en-US" dirty="0"/>
              <a:t>              </a:t>
            </a:r>
          </a:p>
          <a:p>
            <a:pPr algn="just">
              <a:buNone/>
            </a:pPr>
            <a:r>
              <a:rPr lang="en-US" dirty="0"/>
              <a:t>                    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Where ‘K’ is the spring constant or stiffness (N/m)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The stiffness of the spring can be defined as restoring force per unit displacement</a:t>
            </a:r>
          </a:p>
          <a:p>
            <a:pPr algn="just">
              <a:buNone/>
            </a:pPr>
            <a:r>
              <a:rPr lang="en-US" dirty="0"/>
              <a:t>             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725489" y="2133600"/>
          <a:ext cx="3387723" cy="653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280" imgH="279360" progId="Equation.3">
                  <p:embed/>
                </p:oleObj>
              </mc:Choice>
              <mc:Fallback>
                <p:oleObj name="Equation" r:id="rId2" imgW="1079280" imgH="2793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489" y="2133600"/>
                        <a:ext cx="3387723" cy="6534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/>
          <p:cNvGraphicFramePr>
            <a:graphicFrameLocks noChangeAspect="1"/>
          </p:cNvGraphicFramePr>
          <p:nvPr/>
        </p:nvGraphicFramePr>
        <p:xfrm>
          <a:off x="760412" y="1600200"/>
          <a:ext cx="3733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11280" imgH="215640" progId="Equation.3">
                  <p:embed/>
                </p:oleObj>
              </mc:Choice>
              <mc:Fallback>
                <p:oleObj name="Equation" r:id="rId4" imgW="1511280" imgH="21564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412" y="1600200"/>
                        <a:ext cx="37338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Group 33"/>
          <p:cNvGrpSpPr/>
          <p:nvPr/>
        </p:nvGrpSpPr>
        <p:grpSpPr>
          <a:xfrm>
            <a:off x="6086308" y="1686128"/>
            <a:ext cx="2812748" cy="510540"/>
            <a:chOff x="6086308" y="1686128"/>
            <a:chExt cx="2812748" cy="510540"/>
          </a:xfrm>
        </p:grpSpPr>
        <p:grpSp>
          <p:nvGrpSpPr>
            <p:cNvPr id="16387" name="Group 3"/>
            <p:cNvGrpSpPr>
              <a:grpSpLocks/>
            </p:cNvGrpSpPr>
            <p:nvPr/>
          </p:nvGrpSpPr>
          <p:grpSpPr bwMode="auto">
            <a:xfrm>
              <a:off x="7122275" y="1752600"/>
              <a:ext cx="1776781" cy="365760"/>
              <a:chOff x="-46" y="10440"/>
              <a:chExt cx="13150" cy="2347"/>
            </a:xfrm>
          </p:grpSpPr>
          <p:grpSp>
            <p:nvGrpSpPr>
              <p:cNvPr id="16388" name="Group 4"/>
              <p:cNvGrpSpPr>
                <a:grpSpLocks/>
              </p:cNvGrpSpPr>
              <p:nvPr/>
            </p:nvGrpSpPr>
            <p:grpSpPr bwMode="auto">
              <a:xfrm rot="16200000">
                <a:off x="3685" y="10164"/>
                <a:ext cx="1260" cy="1811"/>
                <a:chOff x="5220" y="9900"/>
                <a:chExt cx="900" cy="2160"/>
              </a:xfrm>
            </p:grpSpPr>
            <p:sp>
              <p:nvSpPr>
                <p:cNvPr id="16389" name="Arc 5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90" name="Arc 6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391" name="Group 7"/>
              <p:cNvGrpSpPr>
                <a:grpSpLocks/>
              </p:cNvGrpSpPr>
              <p:nvPr/>
            </p:nvGrpSpPr>
            <p:grpSpPr bwMode="auto">
              <a:xfrm rot="16200000">
                <a:off x="5040" y="9720"/>
                <a:ext cx="1260" cy="2700"/>
                <a:chOff x="5220" y="9900"/>
                <a:chExt cx="900" cy="2160"/>
              </a:xfrm>
            </p:grpSpPr>
            <p:sp>
              <p:nvSpPr>
                <p:cNvPr id="16392" name="Arc 8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93" name="Arc 9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394" name="Group 10"/>
              <p:cNvGrpSpPr>
                <a:grpSpLocks/>
              </p:cNvGrpSpPr>
              <p:nvPr/>
            </p:nvGrpSpPr>
            <p:grpSpPr bwMode="auto">
              <a:xfrm rot="16200000">
                <a:off x="6840" y="9720"/>
                <a:ext cx="1260" cy="2700"/>
                <a:chOff x="5220" y="9900"/>
                <a:chExt cx="900" cy="2160"/>
              </a:xfrm>
            </p:grpSpPr>
            <p:sp>
              <p:nvSpPr>
                <p:cNvPr id="16395" name="Arc 11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96" name="Arc 12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397" name="Group 13"/>
              <p:cNvGrpSpPr>
                <a:grpSpLocks/>
              </p:cNvGrpSpPr>
              <p:nvPr/>
            </p:nvGrpSpPr>
            <p:grpSpPr bwMode="auto">
              <a:xfrm rot="16200000">
                <a:off x="8191" y="10169"/>
                <a:ext cx="1257" cy="1800"/>
                <a:chOff x="5220" y="9900"/>
                <a:chExt cx="900" cy="2160"/>
              </a:xfrm>
            </p:grpSpPr>
            <p:sp>
              <p:nvSpPr>
                <p:cNvPr id="16398" name="Arc 14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399" name="Arc 15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16400" name="AutoShape 16"/>
              <p:cNvCxnSpPr>
                <a:cxnSpLocks noChangeShapeType="1"/>
              </p:cNvCxnSpPr>
              <p:nvPr/>
            </p:nvCxnSpPr>
            <p:spPr bwMode="auto">
              <a:xfrm flipH="1">
                <a:off x="-46" y="11704"/>
                <a:ext cx="3384" cy="0"/>
              </a:xfrm>
              <a:prstGeom prst="straightConnector1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 type="oval"/>
              </a:ln>
            </p:spPr>
          </p:cxnSp>
          <p:cxnSp>
            <p:nvCxnSpPr>
              <p:cNvPr id="16401" name="AutoShape 17"/>
              <p:cNvCxnSpPr>
                <a:cxnSpLocks noChangeShapeType="1"/>
              </p:cNvCxnSpPr>
              <p:nvPr/>
            </p:nvCxnSpPr>
            <p:spPr bwMode="auto">
              <a:xfrm flipH="1">
                <a:off x="9720" y="11699"/>
                <a:ext cx="3384" cy="0"/>
              </a:xfrm>
              <a:prstGeom prst="straightConnector1">
                <a:avLst/>
              </a:prstGeom>
              <a:noFill/>
              <a:ln w="15875">
                <a:solidFill>
                  <a:srgbClr val="000000"/>
                </a:solidFill>
                <a:round/>
                <a:headEnd type="oval"/>
                <a:tailEnd/>
              </a:ln>
            </p:spPr>
          </p:cxnSp>
          <p:grpSp>
            <p:nvGrpSpPr>
              <p:cNvPr id="16402" name="Group 18"/>
              <p:cNvGrpSpPr>
                <a:grpSpLocks/>
              </p:cNvGrpSpPr>
              <p:nvPr/>
            </p:nvGrpSpPr>
            <p:grpSpPr bwMode="auto">
              <a:xfrm rot="5400000">
                <a:off x="4231" y="11786"/>
                <a:ext cx="1079" cy="901"/>
                <a:chOff x="5220" y="9900"/>
                <a:chExt cx="900" cy="2160"/>
              </a:xfrm>
            </p:grpSpPr>
            <p:sp>
              <p:nvSpPr>
                <p:cNvPr id="16403" name="Arc 19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04" name="Arc 20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405" name="Group 21"/>
              <p:cNvGrpSpPr>
                <a:grpSpLocks/>
              </p:cNvGrpSpPr>
              <p:nvPr/>
            </p:nvGrpSpPr>
            <p:grpSpPr bwMode="auto">
              <a:xfrm rot="5400000">
                <a:off x="6031" y="11789"/>
                <a:ext cx="1079" cy="901"/>
                <a:chOff x="5220" y="9900"/>
                <a:chExt cx="900" cy="2160"/>
              </a:xfrm>
            </p:grpSpPr>
            <p:sp>
              <p:nvSpPr>
                <p:cNvPr id="16406" name="Arc 22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07" name="Arc 23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408" name="Group 24"/>
              <p:cNvGrpSpPr>
                <a:grpSpLocks/>
              </p:cNvGrpSpPr>
              <p:nvPr/>
            </p:nvGrpSpPr>
            <p:grpSpPr bwMode="auto">
              <a:xfrm rot="5400000">
                <a:off x="7831" y="11797"/>
                <a:ext cx="1079" cy="901"/>
                <a:chOff x="5220" y="9900"/>
                <a:chExt cx="900" cy="2160"/>
              </a:xfrm>
            </p:grpSpPr>
            <p:sp>
              <p:nvSpPr>
                <p:cNvPr id="16409" name="Arc 25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410" name="Arc 26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aphicFrame>
          <p:nvGraphicFramePr>
            <p:cNvPr id="33" name="Object 32"/>
            <p:cNvGraphicFramePr>
              <a:graphicFrameLocks noChangeAspect="1"/>
            </p:cNvGraphicFramePr>
            <p:nvPr/>
          </p:nvGraphicFramePr>
          <p:xfrm>
            <a:off x="6086308" y="1686128"/>
            <a:ext cx="900953" cy="5105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80880" imgH="215640" progId="Equation.3">
                    <p:embed/>
                  </p:oleObj>
                </mc:Choice>
                <mc:Fallback>
                  <p:oleObj name="Equation" r:id="rId6" imgW="380880" imgH="215640" progId="Equation.3">
                    <p:embed/>
                    <p:pic>
                      <p:nvPicPr>
                        <p:cNvPr id="0" name="Picture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86308" y="1686128"/>
                          <a:ext cx="900953" cy="5105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228600"/>
            <a:ext cx="11782531" cy="6477000"/>
          </a:xfrm>
        </p:spPr>
        <p:txBody>
          <a:bodyPr/>
          <a:lstStyle/>
          <a:p>
            <a:pPr algn="just">
              <a:buNone/>
            </a:pPr>
            <a:r>
              <a:rPr lang="en-US" dirty="0">
                <a:solidFill>
                  <a:srgbClr val="FF0000"/>
                </a:solidFill>
              </a:rPr>
              <a:t>ROTATIONAL SYSTEM: </a:t>
            </a:r>
            <a:r>
              <a:rPr lang="en-US" dirty="0"/>
              <a:t>The rotational motion of a body can be defined as the motion of a body about a fixed axis. There are three types of torques resists the rotational motion.</a:t>
            </a:r>
          </a:p>
          <a:p>
            <a:pPr marL="514350" indent="-514350" algn="just"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Inertia Torque: </a:t>
            </a:r>
            <a:r>
              <a:rPr lang="en-US" dirty="0"/>
              <a:t>Inertia(J) is the property of an element that stores the kinetic energy of rotational motion. The inertia torque TI is the product of moment of inertia J and angular acceleration </a:t>
            </a:r>
            <a:r>
              <a:rPr lang="el-GR" dirty="0"/>
              <a:t>α</a:t>
            </a:r>
            <a:r>
              <a:rPr lang="en-US" dirty="0"/>
              <a:t>(t).</a:t>
            </a:r>
          </a:p>
          <a:p>
            <a:pPr marL="514350" indent="-514350" algn="just">
              <a:buAutoNum type="arabicPeriod"/>
            </a:pPr>
            <a:endParaRPr lang="en-US" dirty="0"/>
          </a:p>
          <a:p>
            <a:pPr marL="514350" indent="-514350" algn="just">
              <a:buNone/>
            </a:pPr>
            <a:r>
              <a:rPr lang="en-US" sz="2800" dirty="0"/>
              <a:t>Where </a:t>
            </a:r>
            <a:r>
              <a:rPr lang="el-GR" sz="2800" dirty="0"/>
              <a:t>ω</a:t>
            </a:r>
            <a:r>
              <a:rPr lang="en-US" sz="2800" dirty="0"/>
              <a:t>(t) is the angular velocity and </a:t>
            </a:r>
            <a:r>
              <a:rPr lang="el-GR" sz="2800" dirty="0"/>
              <a:t>θ</a:t>
            </a:r>
            <a:r>
              <a:rPr lang="en-US" sz="2800" dirty="0"/>
              <a:t>(t) is the angular displacement.</a:t>
            </a:r>
          </a:p>
          <a:p>
            <a:pPr marL="514350" indent="-514350" algn="just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234619" y="4648200"/>
          <a:ext cx="6056322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45960" imgH="419040" progId="Equation.3">
                  <p:embed/>
                </p:oleObj>
              </mc:Choice>
              <mc:Fallback>
                <p:oleObj name="Equation" r:id="rId2" imgW="2145960" imgH="419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4619" y="4648200"/>
                        <a:ext cx="6056322" cy="887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cxnSp>
        <p:nvCxnSpPr>
          <p:cNvPr id="6" name="Straight Connector 5"/>
          <p:cNvCxnSpPr/>
          <p:nvPr/>
        </p:nvCxnSpPr>
        <p:spPr>
          <a:xfrm rot="5400000">
            <a:off x="2922329" y="4582203"/>
            <a:ext cx="1469296" cy="295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656258" y="4363503"/>
            <a:ext cx="4129220" cy="74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654516" y="4748473"/>
            <a:ext cx="4129220" cy="74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7551733" y="4362650"/>
            <a:ext cx="406294" cy="381000"/>
            <a:chOff x="5936193" y="4180628"/>
            <a:chExt cx="838929" cy="576646"/>
          </a:xfrm>
        </p:grpSpPr>
        <p:sp>
          <p:nvSpPr>
            <p:cNvPr id="10" name="Arc 9"/>
            <p:cNvSpPr/>
            <p:nvPr/>
          </p:nvSpPr>
          <p:spPr>
            <a:xfrm>
              <a:off x="6000692" y="4180628"/>
              <a:ext cx="774430" cy="571392"/>
            </a:xfrm>
            <a:prstGeom prst="arc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Arc 11"/>
            <p:cNvSpPr/>
            <p:nvPr/>
          </p:nvSpPr>
          <p:spPr>
            <a:xfrm rot="5132836">
              <a:off x="6081383" y="4076404"/>
              <a:ext cx="535680" cy="826059"/>
            </a:xfrm>
            <a:prstGeom prst="arc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Arc 17"/>
          <p:cNvSpPr/>
          <p:nvPr/>
        </p:nvSpPr>
        <p:spPr>
          <a:xfrm rot="1467926">
            <a:off x="5804118" y="3951622"/>
            <a:ext cx="1015735" cy="2057400"/>
          </a:xfrm>
          <a:prstGeom prst="arc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174592" y="3649575"/>
            <a:ext cx="1320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l-GR" sz="2000" baseline="-25000" dirty="0">
                <a:latin typeface="Times New Roman" pitchFamily="18" charset="0"/>
                <a:cs typeface="Times New Roman" pitchFamily="18" charset="0"/>
              </a:rPr>
              <a:t>θ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0707" y="5142300"/>
            <a:ext cx="1117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000" dirty="0">
                <a:latin typeface="Times New Roman" pitchFamily="18" charset="0"/>
                <a:cs typeface="Times New Roman" pitchFamily="18" charset="0"/>
              </a:rPr>
              <a:t>θ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9236" y="3963200"/>
            <a:ext cx="609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K</a:t>
            </a:r>
          </a:p>
        </p:txBody>
      </p:sp>
      <p:sp>
        <p:nvSpPr>
          <p:cNvPr id="22" name="Oval 21"/>
          <p:cNvSpPr/>
          <p:nvPr/>
        </p:nvSpPr>
        <p:spPr>
          <a:xfrm>
            <a:off x="6470285" y="1101725"/>
            <a:ext cx="1015735" cy="1417320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>
            <a:off x="2744228" y="1619503"/>
            <a:ext cx="4129220" cy="74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742486" y="2004473"/>
            <a:ext cx="4129220" cy="74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/>
          <p:cNvGrpSpPr/>
          <p:nvPr/>
        </p:nvGrpSpPr>
        <p:grpSpPr>
          <a:xfrm>
            <a:off x="6643935" y="1618651"/>
            <a:ext cx="400061" cy="389611"/>
            <a:chOff x="4984249" y="1618650"/>
            <a:chExt cx="300124" cy="389611"/>
          </a:xfrm>
        </p:grpSpPr>
        <p:sp>
          <p:nvSpPr>
            <p:cNvPr id="26" name="Arc 25"/>
            <p:cNvSpPr/>
            <p:nvPr/>
          </p:nvSpPr>
          <p:spPr>
            <a:xfrm>
              <a:off x="5001333" y="1618650"/>
              <a:ext cx="281366" cy="389611"/>
            </a:xfrm>
            <a:prstGeom prst="arc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Arc 26"/>
            <p:cNvSpPr/>
            <p:nvPr/>
          </p:nvSpPr>
          <p:spPr>
            <a:xfrm rot="5132836">
              <a:off x="4951681" y="1672800"/>
              <a:ext cx="365259" cy="300124"/>
            </a:xfrm>
            <a:prstGeom prst="arc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0" name="Straight Connector 29"/>
          <p:cNvCxnSpPr/>
          <p:nvPr/>
        </p:nvCxnSpPr>
        <p:spPr>
          <a:xfrm rot="5400000" flipH="1" flipV="1">
            <a:off x="7346084" y="2209086"/>
            <a:ext cx="1588" cy="60944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/>
          <p:cNvGrpSpPr/>
          <p:nvPr/>
        </p:nvGrpSpPr>
        <p:grpSpPr>
          <a:xfrm>
            <a:off x="6873143" y="996951"/>
            <a:ext cx="1252740" cy="1517649"/>
            <a:chOff x="5851525" y="1060450"/>
            <a:chExt cx="1066800" cy="1066800"/>
          </a:xfrm>
        </p:grpSpPr>
        <p:sp>
          <p:nvSpPr>
            <p:cNvPr id="31" name="Arc 30"/>
            <p:cNvSpPr/>
            <p:nvPr/>
          </p:nvSpPr>
          <p:spPr>
            <a:xfrm>
              <a:off x="5851525" y="1136650"/>
              <a:ext cx="1066800" cy="914400"/>
            </a:xfrm>
            <a:prstGeom prst="arc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Arc 31"/>
            <p:cNvSpPr/>
            <p:nvPr/>
          </p:nvSpPr>
          <p:spPr>
            <a:xfrm rot="5400000">
              <a:off x="5927725" y="1136650"/>
              <a:ext cx="1066800" cy="914400"/>
            </a:xfrm>
            <a:prstGeom prst="arc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7" name="Straight Connector 36"/>
          <p:cNvCxnSpPr/>
          <p:nvPr/>
        </p:nvCxnSpPr>
        <p:spPr>
          <a:xfrm rot="5400000" flipH="1" flipV="1">
            <a:off x="7219392" y="804348"/>
            <a:ext cx="1588" cy="60944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329030" y="1600200"/>
            <a:ext cx="1117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000" dirty="0">
                <a:latin typeface="Times New Roman" pitchFamily="18" charset="0"/>
                <a:cs typeface="Times New Roman" pitchFamily="18" charset="0"/>
              </a:rPr>
              <a:t>θ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(t)</a:t>
            </a:r>
          </a:p>
        </p:txBody>
      </p:sp>
      <p:sp>
        <p:nvSpPr>
          <p:cNvPr id="42" name="Freeform 41"/>
          <p:cNvSpPr/>
          <p:nvPr/>
        </p:nvSpPr>
        <p:spPr>
          <a:xfrm>
            <a:off x="5383398" y="1371600"/>
            <a:ext cx="271515" cy="800100"/>
          </a:xfrm>
          <a:custGeom>
            <a:avLst/>
            <a:gdLst>
              <a:gd name="connsiteX0" fmla="*/ 0 w 279889"/>
              <a:gd name="connsiteY0" fmla="*/ 0 h 580292"/>
              <a:gd name="connsiteX1" fmla="*/ 254977 w 279889"/>
              <a:gd name="connsiteY1" fmla="*/ 211015 h 580292"/>
              <a:gd name="connsiteX2" fmla="*/ 149469 w 279889"/>
              <a:gd name="connsiteY2" fmla="*/ 580292 h 580292"/>
              <a:gd name="connsiteX3" fmla="*/ 149469 w 279889"/>
              <a:gd name="connsiteY3" fmla="*/ 580292 h 580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889" h="580292">
                <a:moveTo>
                  <a:pt x="0" y="0"/>
                </a:moveTo>
                <a:cubicBezTo>
                  <a:pt x="115033" y="57150"/>
                  <a:pt x="230066" y="114300"/>
                  <a:pt x="254977" y="211015"/>
                </a:cubicBezTo>
                <a:cubicBezTo>
                  <a:pt x="279889" y="307730"/>
                  <a:pt x="149469" y="580292"/>
                  <a:pt x="149469" y="580292"/>
                </a:cubicBezTo>
                <a:lnTo>
                  <a:pt x="149469" y="580292"/>
                </a:lnTo>
              </a:path>
            </a:pathLst>
          </a:cu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 42"/>
          <p:cNvSpPr/>
          <p:nvPr/>
        </p:nvSpPr>
        <p:spPr>
          <a:xfrm>
            <a:off x="8145420" y="1409700"/>
            <a:ext cx="271515" cy="800100"/>
          </a:xfrm>
          <a:custGeom>
            <a:avLst/>
            <a:gdLst>
              <a:gd name="connsiteX0" fmla="*/ 0 w 279889"/>
              <a:gd name="connsiteY0" fmla="*/ 0 h 580292"/>
              <a:gd name="connsiteX1" fmla="*/ 254977 w 279889"/>
              <a:gd name="connsiteY1" fmla="*/ 211015 h 580292"/>
              <a:gd name="connsiteX2" fmla="*/ 149469 w 279889"/>
              <a:gd name="connsiteY2" fmla="*/ 580292 h 580292"/>
              <a:gd name="connsiteX3" fmla="*/ 149469 w 279889"/>
              <a:gd name="connsiteY3" fmla="*/ 580292 h 580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889" h="580292">
                <a:moveTo>
                  <a:pt x="0" y="0"/>
                </a:moveTo>
                <a:cubicBezTo>
                  <a:pt x="115033" y="57150"/>
                  <a:pt x="230066" y="114300"/>
                  <a:pt x="254977" y="211015"/>
                </a:cubicBezTo>
                <a:cubicBezTo>
                  <a:pt x="279889" y="307730"/>
                  <a:pt x="149469" y="580292"/>
                  <a:pt x="149469" y="580292"/>
                </a:cubicBezTo>
                <a:lnTo>
                  <a:pt x="149469" y="580292"/>
                </a:lnTo>
              </a:path>
            </a:pathLst>
          </a:cu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4570809" y="990600"/>
            <a:ext cx="1320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55504" y="1658816"/>
            <a:ext cx="609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J</a:t>
            </a:r>
          </a:p>
        </p:txBody>
      </p:sp>
      <p:sp>
        <p:nvSpPr>
          <p:cNvPr id="46" name="Content Placeholder 45"/>
          <p:cNvSpPr>
            <a:spLocks noGrp="1"/>
          </p:cNvSpPr>
          <p:nvPr>
            <p:ph idx="1"/>
          </p:nvPr>
        </p:nvSpPr>
        <p:spPr>
          <a:xfrm>
            <a:off x="406294" y="685800"/>
            <a:ext cx="11477810" cy="5715000"/>
          </a:xfrm>
        </p:spPr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cxnSp>
        <p:nvCxnSpPr>
          <p:cNvPr id="49" name="Straight Connector 48"/>
          <p:cNvCxnSpPr/>
          <p:nvPr/>
        </p:nvCxnSpPr>
        <p:spPr>
          <a:xfrm rot="5400000">
            <a:off x="2563705" y="1808020"/>
            <a:ext cx="381000" cy="211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152400"/>
            <a:ext cx="11680957" cy="65532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endParaRPr lang="en-US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3500" dirty="0">
                <a:solidFill>
                  <a:srgbClr val="FF0000"/>
                </a:solidFill>
              </a:rPr>
              <a:t>2. Damping torque: </a:t>
            </a:r>
            <a:r>
              <a:rPr lang="en-US" sz="3500" dirty="0"/>
              <a:t> The damping torque T</a:t>
            </a:r>
            <a:r>
              <a:rPr lang="en-US" sz="3500" baseline="-25000" dirty="0"/>
              <a:t>D</a:t>
            </a:r>
            <a:r>
              <a:rPr lang="en-US" sz="3500" dirty="0"/>
              <a:t>(t) is the product of damping coefficient B and angular velocity </a:t>
            </a:r>
            <a:r>
              <a:rPr lang="el-GR" sz="3500" dirty="0"/>
              <a:t>ω</a:t>
            </a:r>
            <a:r>
              <a:rPr lang="en-US" sz="3500" dirty="0"/>
              <a:t>. Mathematically </a:t>
            </a:r>
          </a:p>
          <a:p>
            <a:pPr>
              <a:buNone/>
            </a:pPr>
            <a:endParaRPr lang="en-US" sz="3500" dirty="0"/>
          </a:p>
          <a:p>
            <a:pPr>
              <a:buNone/>
            </a:pPr>
            <a:endParaRPr lang="en-US" sz="3500" dirty="0">
              <a:solidFill>
                <a:srgbClr val="FF0000"/>
              </a:solidFill>
            </a:endParaRPr>
          </a:p>
          <a:p>
            <a:pPr>
              <a:buNone/>
            </a:pPr>
            <a:endParaRPr lang="en-US" sz="35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3500" dirty="0">
                <a:solidFill>
                  <a:srgbClr val="FF0000"/>
                </a:solidFill>
              </a:rPr>
              <a:t>3. Spring torque: </a:t>
            </a:r>
            <a:r>
              <a:rPr lang="en-US" sz="3500" dirty="0"/>
              <a:t>Spring torque T</a:t>
            </a:r>
            <a:r>
              <a:rPr lang="el-GR" sz="3500" baseline="-25000" dirty="0"/>
              <a:t>θ</a:t>
            </a:r>
            <a:r>
              <a:rPr lang="en-US" sz="3500" dirty="0"/>
              <a:t>(t)</a:t>
            </a:r>
            <a:r>
              <a:rPr lang="en-US" sz="3500" baseline="-25000" dirty="0"/>
              <a:t> </a:t>
            </a:r>
            <a:r>
              <a:rPr lang="en-US" sz="3500" dirty="0"/>
              <a:t> is the product of torsional stiffness and angular displacement.</a:t>
            </a:r>
          </a:p>
          <a:p>
            <a:pPr>
              <a:buNone/>
            </a:pPr>
            <a:r>
              <a:rPr lang="en-US" sz="3500" dirty="0"/>
              <a:t>Unit of ‘K’ is N-m/</a:t>
            </a:r>
            <a:r>
              <a:rPr lang="en-US" sz="3500" dirty="0" err="1"/>
              <a:t>rad</a:t>
            </a:r>
            <a:endParaRPr lang="en-US" sz="3500" dirty="0"/>
          </a:p>
          <a:p>
            <a:pPr>
              <a:buNone/>
            </a:pPr>
            <a:endParaRPr lang="en-US" sz="3500" dirty="0"/>
          </a:p>
          <a:p>
            <a:pPr>
              <a:buNone/>
            </a:pPr>
            <a:endParaRPr lang="en-US" baseline="-25000" dirty="0">
              <a:solidFill>
                <a:srgbClr val="FF0000"/>
              </a:solidFill>
            </a:endParaRPr>
          </a:p>
          <a:p>
            <a:pPr>
              <a:buNone/>
            </a:pPr>
            <a:endParaRPr lang="en-US" sz="3000" dirty="0"/>
          </a:p>
          <a:p>
            <a:pPr>
              <a:buNone/>
            </a:pPr>
            <a:endParaRPr lang="en-US" sz="3000" dirty="0"/>
          </a:p>
          <a:p>
            <a:pPr>
              <a:buNone/>
            </a:pPr>
            <a:r>
              <a:rPr lang="en-US" sz="3000" baseline="-25000" dirty="0"/>
              <a:t> </a:t>
            </a:r>
            <a:endParaRPr lang="en-US" sz="3000" baseline="-25000" dirty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3148780" y="1905000"/>
          <a:ext cx="4960721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1280" imgH="393480" progId="Equation.3">
                  <p:embed/>
                </p:oleObj>
              </mc:Choice>
              <mc:Fallback>
                <p:oleObj name="Equation" r:id="rId2" imgW="151128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8780" y="1905000"/>
                        <a:ext cx="4960721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875530" y="5181600"/>
          <a:ext cx="269133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0680" imgH="228600" progId="Equation.3">
                  <p:embed/>
                </p:oleObj>
              </mc:Choice>
              <mc:Fallback>
                <p:oleObj name="Equation" r:id="rId4" imgW="850680" imgH="228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5530" y="5181600"/>
                        <a:ext cx="269133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D’ALEMBERT PRINCIPLE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sz="3400" dirty="0"/>
              <a:t>This principle states that “for any body, the algebraic sum of externally applied forces and the forces resisting motion in any given direction is zero”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507868" y="152400"/>
            <a:ext cx="10766795" cy="6858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D’ALEMBERT PRINCIPLE </a:t>
            </a:r>
            <a:r>
              <a:rPr lang="en-US" sz="3200" dirty="0" err="1">
                <a:solidFill>
                  <a:srgbClr val="FF0000"/>
                </a:solidFill>
              </a:rPr>
              <a:t>contd</a:t>
            </a:r>
            <a:r>
              <a:rPr lang="en-US" sz="3200" dirty="0">
                <a:solidFill>
                  <a:srgbClr val="FF0000"/>
                </a:solidFill>
              </a:rPr>
              <a:t>……</a:t>
            </a:r>
            <a:endParaRPr lang="en-US" sz="3200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203147" y="838200"/>
            <a:ext cx="5789692" cy="5867400"/>
          </a:xfrm>
        </p:spPr>
        <p:txBody>
          <a:bodyPr/>
          <a:lstStyle/>
          <a:p>
            <a:pPr>
              <a:buNone/>
            </a:pPr>
            <a:r>
              <a:rPr lang="en-US" dirty="0"/>
              <a:t>External Force: F(t)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Resisting Forces :</a:t>
            </a:r>
          </a:p>
          <a:p>
            <a:pPr marL="514350" indent="-514350">
              <a:buAutoNum type="arabicPeriod"/>
            </a:pPr>
            <a:r>
              <a:rPr lang="en-US" dirty="0"/>
              <a:t>Inertia Force: 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Font typeface="Arial" pitchFamily="34" charset="0"/>
              <a:buAutoNum type="arabicPeriod"/>
            </a:pPr>
            <a:endParaRPr lang="en-US" dirty="0"/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dirty="0"/>
              <a:t>Damping Force:</a:t>
            </a:r>
          </a:p>
          <a:p>
            <a:pPr marL="514350" indent="-514350">
              <a:buFont typeface="Arial" pitchFamily="34" charset="0"/>
              <a:buAutoNum type="arabicPeriod"/>
            </a:pPr>
            <a:endParaRPr lang="en-US" dirty="0"/>
          </a:p>
          <a:p>
            <a:pPr marL="514350" indent="-514350">
              <a:buFont typeface="Arial" pitchFamily="34" charset="0"/>
              <a:buAutoNum type="arabicPeriod"/>
            </a:pPr>
            <a:endParaRPr lang="en-US" dirty="0"/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dirty="0"/>
              <a:t>Spring Force:</a:t>
            </a:r>
          </a:p>
          <a:p>
            <a:pPr marL="514350" indent="-514350">
              <a:buNone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3" name="Content Placeholder 12"/>
          <p:cNvGraphicFramePr>
            <a:graphicFrameLocks noGrp="1" noChangeAspect="1"/>
          </p:cNvGraphicFramePr>
          <p:nvPr>
            <p:ph sz="half" idx="2"/>
          </p:nvPr>
        </p:nvGraphicFramePr>
        <p:xfrm>
          <a:off x="8811505" y="3754438"/>
          <a:ext cx="15236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Content Placeholder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1505" y="3754438"/>
                        <a:ext cx="15236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1015735" y="2438400"/>
          <a:ext cx="314878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18960" imgH="419040" progId="Equation.3">
                  <p:embed/>
                </p:oleObj>
              </mc:Choice>
              <mc:Fallback>
                <p:oleObj name="Equation" r:id="rId4" imgW="1218960" imgH="419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5735" y="2438400"/>
                        <a:ext cx="314878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1218882" y="3962400"/>
          <a:ext cx="314878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66680" imgH="393480" progId="Equation.3">
                  <p:embed/>
                </p:oleObj>
              </mc:Choice>
              <mc:Fallback>
                <p:oleObj name="Equation" r:id="rId6" imgW="1066680" imgH="393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8882" y="3962400"/>
                        <a:ext cx="314878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1320457" y="5562601"/>
          <a:ext cx="2844059" cy="52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52200" imgH="215640" progId="Equation.3">
                  <p:embed/>
                </p:oleObj>
              </mc:Choice>
              <mc:Fallback>
                <p:oleObj name="Equation" r:id="rId8" imgW="952200" imgH="215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457" y="5562601"/>
                        <a:ext cx="2844059" cy="52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6" name="Rectangle 26"/>
          <p:cNvSpPr>
            <a:spLocks noChangeArrowheads="1"/>
          </p:cNvSpPr>
          <p:nvPr/>
        </p:nvSpPr>
        <p:spPr bwMode="auto">
          <a:xfrm>
            <a:off x="7719589" y="3581400"/>
            <a:ext cx="2133044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Arial" pitchFamily="34" charset="0"/>
              </a:rPr>
              <a:t>        M</a:t>
            </a:r>
            <a:endParaRPr kumimoji="0" 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507" name="AutoShape 27"/>
          <p:cNvSpPr>
            <a:spLocks noChangeShapeType="1"/>
          </p:cNvSpPr>
          <p:nvPr/>
        </p:nvSpPr>
        <p:spPr bwMode="auto">
          <a:xfrm>
            <a:off x="9141619" y="2590801"/>
            <a:ext cx="12697" cy="5238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8" name="AutoShape 28"/>
          <p:cNvSpPr>
            <a:spLocks noChangeShapeType="1"/>
          </p:cNvSpPr>
          <p:nvPr/>
        </p:nvSpPr>
        <p:spPr bwMode="auto">
          <a:xfrm>
            <a:off x="9147036" y="3112008"/>
            <a:ext cx="596745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9" name="AutoShape 29"/>
          <p:cNvSpPr>
            <a:spLocks noChangeShapeType="1"/>
          </p:cNvSpPr>
          <p:nvPr/>
        </p:nvSpPr>
        <p:spPr bwMode="auto">
          <a:xfrm flipV="1">
            <a:off x="9751060" y="2590801"/>
            <a:ext cx="0" cy="5238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10" name="AutoShape 30"/>
          <p:cNvSpPr>
            <a:spLocks noChangeShapeType="1"/>
          </p:cNvSpPr>
          <p:nvPr/>
        </p:nvSpPr>
        <p:spPr bwMode="auto">
          <a:xfrm>
            <a:off x="9141619" y="2819400"/>
            <a:ext cx="596745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11" name="AutoShape 31"/>
          <p:cNvSpPr>
            <a:spLocks noChangeShapeType="1"/>
          </p:cNvSpPr>
          <p:nvPr/>
        </p:nvSpPr>
        <p:spPr bwMode="auto">
          <a:xfrm flipH="1" flipV="1">
            <a:off x="9446339" y="2133600"/>
            <a:ext cx="0" cy="6858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12" name="AutoShape 32"/>
          <p:cNvSpPr>
            <a:spLocks noChangeShapeType="1"/>
          </p:cNvSpPr>
          <p:nvPr/>
        </p:nvSpPr>
        <p:spPr bwMode="auto">
          <a:xfrm flipH="1">
            <a:off x="9446338" y="3110992"/>
            <a:ext cx="0" cy="46634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13" name="AutoShape 33"/>
          <p:cNvSpPr>
            <a:spLocks noChangeShapeType="1"/>
          </p:cNvSpPr>
          <p:nvPr/>
        </p:nvSpPr>
        <p:spPr bwMode="auto">
          <a:xfrm>
            <a:off x="7516443" y="2133600"/>
            <a:ext cx="2348888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15" name="AutoShape 35"/>
          <p:cNvSpPr>
            <a:spLocks noChangeShapeType="1"/>
          </p:cNvSpPr>
          <p:nvPr/>
        </p:nvSpPr>
        <p:spPr bwMode="auto">
          <a:xfrm>
            <a:off x="8735325" y="4267200"/>
            <a:ext cx="0" cy="54864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16" name="Rectangle 36"/>
          <p:cNvSpPr>
            <a:spLocks noChangeArrowheads="1"/>
          </p:cNvSpPr>
          <p:nvPr/>
        </p:nvSpPr>
        <p:spPr bwMode="auto">
          <a:xfrm>
            <a:off x="0" y="0"/>
            <a:ext cx="2364750" cy="538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Arial" pitchFamily="34" charset="0"/>
              </a:rPr>
              <a:t>                                                                    </a:t>
            </a:r>
            <a:endParaRPr kumimoji="0" 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517" name="Rectangle 37"/>
          <p:cNvSpPr>
            <a:spLocks noChangeArrowheads="1"/>
          </p:cNvSpPr>
          <p:nvPr/>
        </p:nvSpPr>
        <p:spPr bwMode="auto">
          <a:xfrm>
            <a:off x="0" y="45720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518" name="Rectangle 38"/>
          <p:cNvSpPr>
            <a:spLocks noChangeArrowheads="1"/>
          </p:cNvSpPr>
          <p:nvPr/>
        </p:nvSpPr>
        <p:spPr bwMode="auto">
          <a:xfrm>
            <a:off x="0" y="2324101"/>
            <a:ext cx="3377848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162300" algn="l"/>
              </a:tabLst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Arial" pitchFamily="34" charset="0"/>
              </a:rPr>
              <a:t>	</a:t>
            </a:r>
            <a:endParaRPr kumimoji="0" 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162300" algn="l"/>
              </a:tabLst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Arial" pitchFamily="34" charset="0"/>
              </a:rPr>
              <a:t>           </a:t>
            </a:r>
            <a:endParaRPr kumimoji="0" 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162300" algn="l"/>
              </a:tabLst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Arial" pitchFamily="34" charset="0"/>
              </a:rPr>
              <a:t>         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519" name="Rectangle 39"/>
          <p:cNvSpPr>
            <a:spLocks noChangeArrowheads="1"/>
          </p:cNvSpPr>
          <p:nvPr/>
        </p:nvSpPr>
        <p:spPr bwMode="auto">
          <a:xfrm>
            <a:off x="1" y="1"/>
            <a:ext cx="889987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Arial" pitchFamily="34" charset="0"/>
              </a:rPr>
              <a:t>          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329030" y="4800602"/>
            <a:ext cx="11173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libri" pitchFamily="34" charset="0"/>
                <a:ea typeface="Calibri" pitchFamily="34" charset="0"/>
                <a:cs typeface="Arial" pitchFamily="34" charset="0"/>
              </a:rPr>
              <a:t> </a:t>
            </a:r>
            <a:r>
              <a:rPr lang="en-US" sz="2400" dirty="0">
                <a:latin typeface="Calibri" pitchFamily="34" charset="0"/>
                <a:ea typeface="Calibri" pitchFamily="34" charset="0"/>
                <a:cs typeface="Arial" pitchFamily="34" charset="0"/>
              </a:rPr>
              <a:t>F(t</a:t>
            </a:r>
            <a:r>
              <a:rPr lang="en-US" dirty="0">
                <a:latin typeface="Calibri" pitchFamily="34" charset="0"/>
                <a:ea typeface="Calibri" pitchFamily="34" charset="0"/>
                <a:cs typeface="Arial" pitchFamily="34" charset="0"/>
              </a:rPr>
              <a:t>)</a:t>
            </a:r>
            <a:endParaRPr lang="en-US" dirty="0"/>
          </a:p>
        </p:txBody>
      </p:sp>
      <p:cxnSp>
        <p:nvCxnSpPr>
          <p:cNvPr id="20522" name="AutoShape 42"/>
          <p:cNvCxnSpPr>
            <a:cxnSpLocks noChangeShapeType="1"/>
          </p:cNvCxnSpPr>
          <p:nvPr/>
        </p:nvCxnSpPr>
        <p:spPr bwMode="auto">
          <a:xfrm rot="5400000">
            <a:off x="10138278" y="4387586"/>
            <a:ext cx="241300" cy="211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20523" name="AutoShape 43"/>
          <p:cNvCxnSpPr>
            <a:cxnSpLocks noChangeShapeType="1"/>
          </p:cNvCxnSpPr>
          <p:nvPr/>
        </p:nvCxnSpPr>
        <p:spPr bwMode="auto">
          <a:xfrm>
            <a:off x="10055781" y="4267200"/>
            <a:ext cx="355507" cy="158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58" name="Rectangle 57"/>
          <p:cNvSpPr/>
          <p:nvPr/>
        </p:nvSpPr>
        <p:spPr>
          <a:xfrm>
            <a:off x="9954207" y="4495800"/>
            <a:ext cx="697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X(t)</a:t>
            </a:r>
          </a:p>
        </p:txBody>
      </p:sp>
      <p:grpSp>
        <p:nvGrpSpPr>
          <p:cNvPr id="20486" name="Group 6"/>
          <p:cNvGrpSpPr>
            <a:grpSpLocks/>
          </p:cNvGrpSpPr>
          <p:nvPr/>
        </p:nvGrpSpPr>
        <p:grpSpPr bwMode="auto">
          <a:xfrm rot="5400000">
            <a:off x="7354819" y="2701491"/>
            <a:ext cx="1440563" cy="304721"/>
            <a:chOff x="-4698" y="10440"/>
            <a:chExt cx="21937" cy="2347"/>
          </a:xfrm>
        </p:grpSpPr>
        <p:grpSp>
          <p:nvGrpSpPr>
            <p:cNvPr id="20487" name="Group 7"/>
            <p:cNvGrpSpPr>
              <a:grpSpLocks/>
            </p:cNvGrpSpPr>
            <p:nvPr/>
          </p:nvGrpSpPr>
          <p:grpSpPr bwMode="auto">
            <a:xfrm rot="16200000">
              <a:off x="3685" y="10164"/>
              <a:ext cx="1260" cy="1811"/>
              <a:chOff x="5220" y="9900"/>
              <a:chExt cx="900" cy="2160"/>
            </a:xfrm>
          </p:grpSpPr>
          <p:sp>
            <p:nvSpPr>
              <p:cNvPr id="20488" name="Arc 8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489" name="Arc 9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0490" name="Group 10"/>
            <p:cNvGrpSpPr>
              <a:grpSpLocks/>
            </p:cNvGrpSpPr>
            <p:nvPr/>
          </p:nvGrpSpPr>
          <p:grpSpPr bwMode="auto">
            <a:xfrm rot="16200000">
              <a:off x="5040" y="9720"/>
              <a:ext cx="1260" cy="2700"/>
              <a:chOff x="5220" y="9900"/>
              <a:chExt cx="900" cy="2160"/>
            </a:xfrm>
          </p:grpSpPr>
          <p:sp>
            <p:nvSpPr>
              <p:cNvPr id="20491" name="Arc 11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492" name="Arc 12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0493" name="Group 13"/>
            <p:cNvGrpSpPr>
              <a:grpSpLocks/>
            </p:cNvGrpSpPr>
            <p:nvPr/>
          </p:nvGrpSpPr>
          <p:grpSpPr bwMode="auto">
            <a:xfrm rot="16200000">
              <a:off x="6840" y="9720"/>
              <a:ext cx="1260" cy="2700"/>
              <a:chOff x="5220" y="9900"/>
              <a:chExt cx="900" cy="2160"/>
            </a:xfrm>
          </p:grpSpPr>
          <p:sp>
            <p:nvSpPr>
              <p:cNvPr id="20494" name="Arc 14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495" name="Arc 15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0496" name="Group 16"/>
            <p:cNvGrpSpPr>
              <a:grpSpLocks/>
            </p:cNvGrpSpPr>
            <p:nvPr/>
          </p:nvGrpSpPr>
          <p:grpSpPr bwMode="auto">
            <a:xfrm rot="16200000">
              <a:off x="8191" y="10169"/>
              <a:ext cx="1257" cy="1800"/>
              <a:chOff x="5220" y="9900"/>
              <a:chExt cx="900" cy="2160"/>
            </a:xfrm>
          </p:grpSpPr>
          <p:sp>
            <p:nvSpPr>
              <p:cNvPr id="20497" name="Arc 17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498" name="Arc 18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cxnSp>
          <p:nvCxnSpPr>
            <p:cNvPr id="20499" name="AutoShape 19"/>
            <p:cNvCxnSpPr>
              <a:cxnSpLocks noChangeShapeType="1"/>
            </p:cNvCxnSpPr>
            <p:nvPr/>
          </p:nvCxnSpPr>
          <p:spPr bwMode="auto">
            <a:xfrm flipH="1">
              <a:off x="-4698" y="11704"/>
              <a:ext cx="8076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0500" name="AutoShape 20"/>
            <p:cNvCxnSpPr>
              <a:cxnSpLocks noChangeShapeType="1"/>
            </p:cNvCxnSpPr>
            <p:nvPr/>
          </p:nvCxnSpPr>
          <p:spPr bwMode="auto">
            <a:xfrm flipH="1">
              <a:off x="9720" y="11699"/>
              <a:ext cx="7519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grpSp>
          <p:nvGrpSpPr>
            <p:cNvPr id="20501" name="Group 21"/>
            <p:cNvGrpSpPr>
              <a:grpSpLocks/>
            </p:cNvGrpSpPr>
            <p:nvPr/>
          </p:nvGrpSpPr>
          <p:grpSpPr bwMode="auto">
            <a:xfrm rot="5400000">
              <a:off x="4231" y="11786"/>
              <a:ext cx="1079" cy="901"/>
              <a:chOff x="5220" y="9900"/>
              <a:chExt cx="900" cy="2160"/>
            </a:xfrm>
          </p:grpSpPr>
          <p:sp>
            <p:nvSpPr>
              <p:cNvPr id="20502" name="Arc 22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503" name="Arc 23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0504" name="Group 24"/>
            <p:cNvGrpSpPr>
              <a:grpSpLocks/>
            </p:cNvGrpSpPr>
            <p:nvPr/>
          </p:nvGrpSpPr>
          <p:grpSpPr bwMode="auto">
            <a:xfrm rot="5400000">
              <a:off x="6031" y="11789"/>
              <a:ext cx="1079" cy="901"/>
              <a:chOff x="5220" y="9900"/>
              <a:chExt cx="900" cy="2160"/>
            </a:xfrm>
          </p:grpSpPr>
          <p:sp>
            <p:nvSpPr>
              <p:cNvPr id="6" name="Arc 25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" name="Arc 26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" name="Group 27"/>
            <p:cNvGrpSpPr>
              <a:grpSpLocks/>
            </p:cNvGrpSpPr>
            <p:nvPr/>
          </p:nvGrpSpPr>
          <p:grpSpPr bwMode="auto">
            <a:xfrm rot="5400000">
              <a:off x="7831" y="11797"/>
              <a:ext cx="1079" cy="901"/>
              <a:chOff x="5220" y="9900"/>
              <a:chExt cx="900" cy="2160"/>
            </a:xfrm>
          </p:grpSpPr>
          <p:sp>
            <p:nvSpPr>
              <p:cNvPr id="3" name="Arc 28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" name="Arc 29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51" name="Rectangle 50"/>
          <p:cNvSpPr/>
          <p:nvPr/>
        </p:nvSpPr>
        <p:spPr>
          <a:xfrm>
            <a:off x="9751060" y="2667000"/>
            <a:ext cx="697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39880" y="2667000"/>
            <a:ext cx="697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03147" y="152400"/>
            <a:ext cx="11782531" cy="6553200"/>
          </a:xfrm>
        </p:spPr>
        <p:txBody>
          <a:bodyPr/>
          <a:lstStyle/>
          <a:p>
            <a:pPr>
              <a:buNone/>
            </a:pPr>
            <a:r>
              <a:rPr lang="en-US" dirty="0"/>
              <a:t>According to D’Alembert Principle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015735" y="990600"/>
          <a:ext cx="908139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11200" imgH="419040" progId="Equation.3">
                  <p:embed/>
                </p:oleObj>
              </mc:Choice>
              <mc:Fallback>
                <p:oleObj name="Equation" r:id="rId2" imgW="2311200" imgH="419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5735" y="990600"/>
                        <a:ext cx="9081397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1015735" y="2133600"/>
          <a:ext cx="8938472" cy="1044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08160" imgH="419040" progId="Equation.3">
                  <p:embed/>
                </p:oleObj>
              </mc:Choice>
              <mc:Fallback>
                <p:oleObj name="Equation" r:id="rId4" imgW="2108160" imgH="419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5735" y="2133600"/>
                        <a:ext cx="8938472" cy="1044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152400"/>
            <a:ext cx="11782531" cy="6553200"/>
          </a:xfrm>
        </p:spPr>
        <p:txBody>
          <a:bodyPr/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Consider rotational system: </a:t>
            </a: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00B050"/>
                </a:solidFill>
              </a:rPr>
              <a:t>External torque: </a:t>
            </a:r>
            <a:r>
              <a:rPr lang="en-US" dirty="0"/>
              <a:t>T(t)</a:t>
            </a:r>
          </a:p>
          <a:p>
            <a:pPr>
              <a:buNone/>
            </a:pPr>
            <a:r>
              <a:rPr lang="en-US" dirty="0">
                <a:solidFill>
                  <a:srgbClr val="00B050"/>
                </a:solidFill>
              </a:rPr>
              <a:t>Resisting Torque:</a:t>
            </a:r>
          </a:p>
          <a:p>
            <a:pPr>
              <a:buNone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Inertia Torque: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(ii) Damping Torque: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(iii) Spring Torque:</a:t>
            </a:r>
          </a:p>
          <a:p>
            <a:pPr>
              <a:buNone/>
            </a:pPr>
            <a:r>
              <a:rPr lang="en-US" dirty="0"/>
              <a:t>According to D’Alembert Principle: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859795" y="6356351"/>
            <a:ext cx="4672383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367663" y="1752600"/>
          <a:ext cx="305903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080" imgH="393480" progId="Equation.3">
                  <p:embed/>
                </p:oleObj>
              </mc:Choice>
              <mc:Fallback>
                <p:oleObj name="Equation" r:id="rId2" imgW="105408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663" y="1752600"/>
                        <a:ext cx="3059037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4977103" y="2895600"/>
          <a:ext cx="294563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79280" imgH="393480" progId="Equation.3">
                  <p:embed/>
                </p:oleObj>
              </mc:Choice>
              <mc:Fallback>
                <p:oleObj name="Equation" r:id="rId4" imgW="107928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7103" y="2895600"/>
                        <a:ext cx="2945633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367661" y="4343400"/>
          <a:ext cx="310297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65160" imgH="215640" progId="Equation.3">
                  <p:embed/>
                </p:oleObj>
              </mc:Choice>
              <mc:Fallback>
                <p:oleObj name="Equation" r:id="rId6" imgW="965160" imgH="215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661" y="4343400"/>
                        <a:ext cx="3102972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187142" y="5562600"/>
          <a:ext cx="900195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41400" imgH="215640" progId="Equation.3">
                  <p:embed/>
                </p:oleObj>
              </mc:Choice>
              <mc:Fallback>
                <p:oleObj name="Equation" r:id="rId8" imgW="1841400" imgH="215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142" y="5562600"/>
                        <a:ext cx="9001955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4515" y="6356351"/>
            <a:ext cx="4266089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graphicFrame>
        <p:nvGraphicFramePr>
          <p:cNvPr id="5" name="Content Placeholder 4"/>
          <p:cNvGraphicFramePr>
            <a:graphicFrameLocks noGrp="1" noChangeAspect="1"/>
          </p:cNvGraphicFramePr>
          <p:nvPr>
            <p:ph idx="1"/>
          </p:nvPr>
        </p:nvGraphicFramePr>
        <p:xfrm>
          <a:off x="2133045" y="762001"/>
          <a:ext cx="6932428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47840" imgH="393480" progId="Equation.3">
                  <p:embed/>
                </p:oleObj>
              </mc:Choice>
              <mc:Fallback>
                <p:oleObj name="Equation" r:id="rId2" imgW="2247840" imgH="393480" progId="Equation.3">
                  <p:embed/>
                  <p:pic>
                    <p:nvPicPr>
                      <p:cNvPr id="0" name="Content Placeholder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045" y="762001"/>
                        <a:ext cx="6932428" cy="909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336191" y="1981200"/>
          <a:ext cx="66380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44440" imgH="393480" progId="Equation.3">
                  <p:embed/>
                </p:oleObj>
              </mc:Choice>
              <mc:Fallback>
                <p:oleObj name="Equation" r:id="rId4" imgW="204444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191" y="1981200"/>
                        <a:ext cx="663805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304722" y="3352801"/>
            <a:ext cx="11579384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Low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Arial" pitchFamily="34" charset="0"/>
              </a:rPr>
              <a:t>D'Alembert Principle for rotational motion states that </a:t>
            </a:r>
          </a:p>
          <a:p>
            <a:pPr marL="0" marR="0" lvl="0" indent="0" algn="justLow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Arial" pitchFamily="34" charset="0"/>
              </a:rPr>
              <a:t> 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" pitchFamily="34" charset="0"/>
                <a:ea typeface="Calibri" pitchFamily="34" charset="0"/>
                <a:cs typeface="Arial" pitchFamily="34" charset="0"/>
              </a:rPr>
              <a:t>“For anybody, the algebraic sum of externally applied torques and the torque resisting rotation about any axis is zero.”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11015" y="274638"/>
            <a:ext cx="10969943" cy="63976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TANSLATIONAL-ROTATIONAL COUNTERPARTS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406294" y="990600"/>
          <a:ext cx="11579383" cy="5041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8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1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763">
                <a:tc>
                  <a:txBody>
                    <a:bodyPr/>
                    <a:lstStyle/>
                    <a:p>
                      <a:r>
                        <a:rPr lang="en-US" sz="2600" b="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S.NO.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b="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TRANSLATIONAL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b="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ROTATIONAL</a:t>
                      </a:r>
                    </a:p>
                  </a:txBody>
                  <a:tcPr marL="117535" marR="11753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361"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1.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Force, F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Torque, T</a:t>
                      </a:r>
                    </a:p>
                  </a:txBody>
                  <a:tcPr marL="117535" marR="11753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416"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2.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Acceleration, a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Angular acceleration, </a:t>
                      </a:r>
                      <a:r>
                        <a:rPr lang="el-GR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α</a:t>
                      </a:r>
                      <a:endParaRPr lang="en-US" sz="26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117535" marR="11753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361"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3.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Velocity, v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Angular</a:t>
                      </a:r>
                      <a:r>
                        <a:rPr lang="en-US" sz="2600" baseline="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velocity, </a:t>
                      </a:r>
                      <a:r>
                        <a:rPr lang="el-GR" sz="2600" baseline="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ω</a:t>
                      </a:r>
                      <a:endParaRPr lang="en-US" sz="26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117535" marR="11753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899"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4.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Displacement, x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Angular displacement, </a:t>
                      </a:r>
                      <a:r>
                        <a:rPr lang="el-GR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θ</a:t>
                      </a:r>
                      <a:endParaRPr lang="en-US" sz="26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117535" marR="11753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361"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5.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Mass, M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Moment of inertia, J</a:t>
                      </a:r>
                    </a:p>
                  </a:txBody>
                  <a:tcPr marL="117535" marR="11753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87188"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6.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Damping</a:t>
                      </a:r>
                      <a:r>
                        <a:rPr lang="en-US" sz="2600" baseline="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coefficient, B</a:t>
                      </a:r>
                      <a:endParaRPr lang="en-US" sz="26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Rotational damping coefficient, B</a:t>
                      </a:r>
                    </a:p>
                  </a:txBody>
                  <a:tcPr marL="117535" marR="11753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1361"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7.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Stiffness </a:t>
                      </a:r>
                    </a:p>
                  </a:txBody>
                  <a:tcPr marL="117535" marR="117535"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Torsional stiffness</a:t>
                      </a:r>
                    </a:p>
                  </a:txBody>
                  <a:tcPr marL="117535" marR="11753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SYED HASAN SAEED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203147" y="228600"/>
            <a:ext cx="5789692" cy="6477000"/>
          </a:xfrm>
        </p:spPr>
        <p:txBody>
          <a:bodyPr/>
          <a:lstStyle/>
          <a:p>
            <a:pPr algn="just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EXAMPLE1: Draw the free body diagram and write the differential equation of the given system shown in fig. </a:t>
            </a:r>
          </a:p>
          <a:p>
            <a:pPr>
              <a:buNone/>
            </a:pPr>
            <a:r>
              <a:rPr lang="en-US" dirty="0"/>
              <a:t>Solution:</a:t>
            </a:r>
          </a:p>
          <a:p>
            <a:pPr algn="just">
              <a:buNone/>
            </a:pPr>
            <a:r>
              <a:rPr lang="en-US" dirty="0"/>
              <a:t>Free body diagrams are shown in next slide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pic>
        <p:nvPicPr>
          <p:cNvPr id="25603" name="Picture 3" descr="E:\Automatic Control Systems\jpg\Fig_1-27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297560" y="304800"/>
            <a:ext cx="5688118" cy="6172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4515" y="6416676"/>
            <a:ext cx="3859795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1726751" y="914400"/>
            <a:ext cx="3735284" cy="4779264"/>
            <a:chOff x="1295400" y="914400"/>
            <a:chExt cx="2802193" cy="4779264"/>
          </a:xfrm>
        </p:grpSpPr>
        <p:sp>
          <p:nvSpPr>
            <p:cNvPr id="8" name="Rectangle 7"/>
            <p:cNvSpPr/>
            <p:nvPr/>
          </p:nvSpPr>
          <p:spPr>
            <a:xfrm>
              <a:off x="1905000" y="3124200"/>
              <a:ext cx="1676400" cy="91440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rot="5400000" flipH="1" flipV="1">
              <a:off x="2058194" y="2437606"/>
              <a:ext cx="13716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8" idx="2"/>
            </p:cNvCxnSpPr>
            <p:nvPr/>
          </p:nvCxnSpPr>
          <p:spPr>
            <a:xfrm rot="5400000">
              <a:off x="2171700" y="4610100"/>
              <a:ext cx="11430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rot="5400000" flipH="1" flipV="1">
              <a:off x="1943100" y="2933700"/>
              <a:ext cx="3810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rot="5400000" flipH="1" flipV="1">
              <a:off x="2971800" y="2895600"/>
              <a:ext cx="4572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9" name="Content Placeholder 18"/>
            <p:cNvGraphicFramePr>
              <a:graphicFrameLocks noGrp="1" noChangeAspect="1"/>
            </p:cNvGraphicFramePr>
            <p:nvPr>
              <p:ph idx="1"/>
            </p:nvPr>
          </p:nvGraphicFramePr>
          <p:xfrm>
            <a:off x="2286000" y="914400"/>
            <a:ext cx="1116642" cy="8296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58720" imgH="419040" progId="Equation.3">
                    <p:embed/>
                  </p:oleObj>
                </mc:Choice>
                <mc:Fallback>
                  <p:oleObj name="Equation" r:id="rId2" imgW="558720" imgH="419040" progId="Equation.3">
                    <p:embed/>
                    <p:pic>
                      <p:nvPicPr>
                        <p:cNvPr id="0" name="Content Placeholder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6000" y="914400"/>
                          <a:ext cx="1116642" cy="8296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19"/>
            <p:cNvGraphicFramePr>
              <a:graphicFrameLocks noChangeAspect="1"/>
            </p:cNvGraphicFramePr>
            <p:nvPr/>
          </p:nvGraphicFramePr>
          <p:xfrm>
            <a:off x="1295400" y="2286000"/>
            <a:ext cx="1255059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711000" imgH="215640" progId="Equation.3">
                    <p:embed/>
                  </p:oleObj>
                </mc:Choice>
                <mc:Fallback>
                  <p:oleObj name="Equation" r:id="rId4" imgW="711000" imgH="21564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5400" y="2286000"/>
                          <a:ext cx="1255059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0"/>
            <p:cNvGraphicFramePr>
              <a:graphicFrameLocks noChangeAspect="1"/>
            </p:cNvGraphicFramePr>
            <p:nvPr/>
          </p:nvGraphicFramePr>
          <p:xfrm>
            <a:off x="2819400" y="2133600"/>
            <a:ext cx="1278193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825480" imgH="393480" progId="Equation.3">
                    <p:embed/>
                  </p:oleObj>
                </mc:Choice>
                <mc:Fallback>
                  <p:oleObj name="Equation" r:id="rId6" imgW="825480" imgH="39348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9400" y="2133600"/>
                          <a:ext cx="1278193" cy="609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1"/>
            <p:cNvGraphicFramePr>
              <a:graphicFrameLocks noChangeAspect="1"/>
            </p:cNvGraphicFramePr>
            <p:nvPr/>
          </p:nvGraphicFramePr>
          <p:xfrm>
            <a:off x="2438400" y="5257800"/>
            <a:ext cx="681038" cy="4358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17160" imgH="203040" progId="Equation.3">
                    <p:embed/>
                  </p:oleObj>
                </mc:Choice>
                <mc:Fallback>
                  <p:oleObj name="Equation" r:id="rId8" imgW="317160" imgH="20304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8400" y="5257800"/>
                          <a:ext cx="681038" cy="4358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3334003" y="3352799"/>
          <a:ext cx="728939" cy="516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8600" imgH="215640" progId="Equation.3">
                  <p:embed/>
                </p:oleObj>
              </mc:Choice>
              <mc:Fallback>
                <p:oleObj name="Equation" r:id="rId10" imgW="228600" imgH="215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4003" y="3352799"/>
                        <a:ext cx="728939" cy="5164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4"/>
          <p:cNvGraphicFramePr>
            <a:graphicFrameLocks noChangeAspect="1"/>
          </p:cNvGraphicFramePr>
          <p:nvPr/>
        </p:nvGraphicFramePr>
        <p:xfrm>
          <a:off x="8012360" y="3352800"/>
          <a:ext cx="681141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1200" imgH="215640" progId="Equation.3">
                  <p:embed/>
                </p:oleObj>
              </mc:Choice>
              <mc:Fallback>
                <p:oleObj name="Equation" r:id="rId12" imgW="241200" imgH="215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2360" y="3352800"/>
                        <a:ext cx="681141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26"/>
          <p:cNvGrpSpPr/>
          <p:nvPr/>
        </p:nvGrpSpPr>
        <p:grpSpPr>
          <a:xfrm>
            <a:off x="6602281" y="762000"/>
            <a:ext cx="4082602" cy="4419600"/>
            <a:chOff x="4953000" y="762000"/>
            <a:chExt cx="3062749" cy="4419600"/>
          </a:xfrm>
        </p:grpSpPr>
        <p:sp>
          <p:nvSpPr>
            <p:cNvPr id="24" name="Rectangle 23"/>
            <p:cNvSpPr/>
            <p:nvPr/>
          </p:nvSpPr>
          <p:spPr>
            <a:xfrm>
              <a:off x="5410200" y="3124200"/>
              <a:ext cx="1752600" cy="91440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/>
            <p:cNvCxnSpPr>
              <a:stCxn id="24" idx="0"/>
            </p:cNvCxnSpPr>
            <p:nvPr/>
          </p:nvCxnSpPr>
          <p:spPr>
            <a:xfrm rot="16200000" flipV="1">
              <a:off x="5505450" y="2343150"/>
              <a:ext cx="1524000" cy="381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rot="5400000" flipH="1" flipV="1">
              <a:off x="5524500" y="2933700"/>
              <a:ext cx="3810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rot="5400000" flipH="1" flipV="1">
              <a:off x="6553200" y="2895600"/>
              <a:ext cx="4572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rot="5400000">
              <a:off x="5486400" y="4267200"/>
              <a:ext cx="4572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5400000">
              <a:off x="6629400" y="4267200"/>
              <a:ext cx="4572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8680" name="Object 8"/>
            <p:cNvGraphicFramePr>
              <a:graphicFrameLocks noChangeAspect="1"/>
            </p:cNvGraphicFramePr>
            <p:nvPr/>
          </p:nvGraphicFramePr>
          <p:xfrm>
            <a:off x="4953000" y="4495800"/>
            <a:ext cx="1407458" cy="427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711000" imgH="215640" progId="Equation.3">
                    <p:embed/>
                  </p:oleObj>
                </mc:Choice>
                <mc:Fallback>
                  <p:oleObj name="Equation" r:id="rId14" imgW="711000" imgH="21564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3000" y="4495800"/>
                          <a:ext cx="1407458" cy="427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1" name="Object 9"/>
            <p:cNvGraphicFramePr>
              <a:graphicFrameLocks noChangeAspect="1"/>
            </p:cNvGraphicFramePr>
            <p:nvPr/>
          </p:nvGraphicFramePr>
          <p:xfrm>
            <a:off x="6477000" y="4419600"/>
            <a:ext cx="1538749" cy="762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825480" imgH="393480" progId="Equation.3">
                    <p:embed/>
                  </p:oleObj>
                </mc:Choice>
                <mc:Fallback>
                  <p:oleObj name="Equation" r:id="rId16" imgW="825480" imgH="39348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77000" y="4419600"/>
                          <a:ext cx="1538749" cy="762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2" name="Object 10"/>
            <p:cNvGraphicFramePr>
              <a:graphicFrameLocks noChangeAspect="1"/>
            </p:cNvGraphicFramePr>
            <p:nvPr/>
          </p:nvGraphicFramePr>
          <p:xfrm>
            <a:off x="5638800" y="762000"/>
            <a:ext cx="1133764" cy="813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583920" imgH="419040" progId="Equation.3">
                    <p:embed/>
                  </p:oleObj>
                </mc:Choice>
                <mc:Fallback>
                  <p:oleObj name="Equation" r:id="rId18" imgW="583920" imgH="41904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38800" y="762000"/>
                          <a:ext cx="1133764" cy="813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3" name="Object 11"/>
            <p:cNvGraphicFramePr>
              <a:graphicFrameLocks noChangeAspect="1"/>
            </p:cNvGraphicFramePr>
            <p:nvPr/>
          </p:nvGraphicFramePr>
          <p:xfrm>
            <a:off x="5257800" y="1981200"/>
            <a:ext cx="884903" cy="762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457200" imgH="393480" progId="Equation.3">
                    <p:embed/>
                  </p:oleObj>
                </mc:Choice>
                <mc:Fallback>
                  <p:oleObj name="Equation" r:id="rId20" imgW="457200" imgH="393480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7800" y="1981200"/>
                          <a:ext cx="884903" cy="762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4" name="Object 12"/>
            <p:cNvGraphicFramePr>
              <a:graphicFrameLocks noChangeAspect="1"/>
            </p:cNvGraphicFramePr>
            <p:nvPr/>
          </p:nvGraphicFramePr>
          <p:xfrm>
            <a:off x="6508376" y="2133600"/>
            <a:ext cx="726142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342720" imgH="215640" progId="Equation.3">
                    <p:embed/>
                  </p:oleObj>
                </mc:Choice>
                <mc:Fallback>
                  <p:oleObj name="Equation" r:id="rId22" imgW="342720" imgH="215640" progId="Equation.3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08376" y="2133600"/>
                          <a:ext cx="726142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 noChangeAspect="1"/>
          </p:cNvGraphicFramePr>
          <p:nvPr>
            <p:ph idx="1"/>
          </p:nvPr>
        </p:nvGraphicFramePr>
        <p:xfrm>
          <a:off x="406295" y="152400"/>
          <a:ext cx="11376237" cy="624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01920" imgH="2374560" progId="Equation.3">
                  <p:embed/>
                </p:oleObj>
              </mc:Choice>
              <mc:Fallback>
                <p:oleObj name="Equation" r:id="rId2" imgW="3301920" imgH="2374560" progId="Equation.3">
                  <p:embed/>
                  <p:pic>
                    <p:nvPicPr>
                      <p:cNvPr id="0" name="Content Placeholder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295" y="152400"/>
                        <a:ext cx="11376237" cy="624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03147" y="2286000"/>
            <a:ext cx="11782531" cy="3962400"/>
          </a:xfrm>
        </p:spPr>
        <p:txBody>
          <a:bodyPr>
            <a:normAutofit/>
          </a:bodyPr>
          <a:lstStyle/>
          <a:p>
            <a:r>
              <a:rPr lang="en-US" sz="2800" b="0" dirty="0"/>
              <a:t>f</a:t>
            </a:r>
            <a:r>
              <a:rPr lang="en-US" sz="2800" b="0" cap="none" dirty="0"/>
              <a:t>igure</a:t>
            </a:r>
            <a:endParaRPr lang="en-US" sz="2800" b="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222580" y="114300"/>
            <a:ext cx="11782531" cy="1905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Example 2: Write the differential equations describing   the dynamics of the systems shown in figure and find the ratio </a:t>
            </a:r>
          </a:p>
          <a:p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260501"/>
              </p:ext>
            </p:extLst>
          </p:nvPr>
        </p:nvGraphicFramePr>
        <p:xfrm>
          <a:off x="7542212" y="1219200"/>
          <a:ext cx="1619459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640" imgH="419040" progId="Equation.3">
                  <p:embed/>
                </p:oleObj>
              </mc:Choice>
              <mc:Fallback>
                <p:oleObj name="Equation" r:id="rId2" imgW="431640" imgH="419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2212" y="1219200"/>
                        <a:ext cx="1619459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699" name="Picture 3" descr="E:\Automatic Control Systems\jpg\fig_1-29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12588" y="3048000"/>
            <a:ext cx="10157354" cy="30911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71596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FREE BODY DAIGRAMS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graphicFrame>
        <p:nvGraphicFramePr>
          <p:cNvPr id="14" name="Content Placeholder 13"/>
          <p:cNvGraphicFramePr>
            <a:graphicFrameLocks noGrp="1" noChangeAspect="1"/>
          </p:cNvGraphicFramePr>
          <p:nvPr>
            <p:ph idx="1"/>
          </p:nvPr>
        </p:nvGraphicFramePr>
        <p:xfrm>
          <a:off x="4977104" y="1981200"/>
          <a:ext cx="609440" cy="482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" imgH="215640" progId="Equation.3">
                  <p:embed/>
                </p:oleObj>
              </mc:Choice>
              <mc:Fallback>
                <p:oleObj name="Equation" r:id="rId2" imgW="228600" imgH="215640" progId="Equation.3">
                  <p:embed/>
                  <p:pic>
                    <p:nvPicPr>
                      <p:cNvPr id="0" name="Content Placeholder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7104" y="1981200"/>
                        <a:ext cx="609440" cy="4829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oup 19"/>
          <p:cNvGrpSpPr/>
          <p:nvPr/>
        </p:nvGrpSpPr>
        <p:grpSpPr>
          <a:xfrm>
            <a:off x="2031471" y="1676400"/>
            <a:ext cx="7922736" cy="1295400"/>
            <a:chOff x="1524000" y="1676400"/>
            <a:chExt cx="5943600" cy="1295400"/>
          </a:xfrm>
        </p:grpSpPr>
        <p:sp>
          <p:nvSpPr>
            <p:cNvPr id="7" name="Rectangle 6"/>
            <p:cNvSpPr/>
            <p:nvPr/>
          </p:nvSpPr>
          <p:spPr>
            <a:xfrm>
              <a:off x="3124200" y="1752600"/>
              <a:ext cx="1524000" cy="99060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V="1">
              <a:off x="2209800" y="2209800"/>
              <a:ext cx="9144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rot="10800000">
              <a:off x="4648200" y="1905000"/>
              <a:ext cx="6858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rot="10800000">
              <a:off x="4648200" y="2590800"/>
              <a:ext cx="18288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5" name="Object 14"/>
            <p:cNvGraphicFramePr>
              <a:graphicFrameLocks noChangeAspect="1"/>
            </p:cNvGraphicFramePr>
            <p:nvPr/>
          </p:nvGraphicFramePr>
          <p:xfrm>
            <a:off x="6553200" y="2286000"/>
            <a:ext cx="914400" cy="685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58720" imgH="419040" progId="Equation.3">
                    <p:embed/>
                  </p:oleObj>
                </mc:Choice>
                <mc:Fallback>
                  <p:oleObj name="Equation" r:id="rId4" imgW="558720" imgH="41904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53200" y="2286000"/>
                          <a:ext cx="914400" cy="685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5"/>
            <p:cNvGraphicFramePr>
              <a:graphicFrameLocks noChangeAspect="1"/>
            </p:cNvGraphicFramePr>
            <p:nvPr/>
          </p:nvGraphicFramePr>
          <p:xfrm>
            <a:off x="5410200" y="1676400"/>
            <a:ext cx="1232646" cy="449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11000" imgH="215640" progId="Equation.3">
                    <p:embed/>
                  </p:oleObj>
                </mc:Choice>
                <mc:Fallback>
                  <p:oleObj name="Equation" r:id="rId6" imgW="711000" imgH="21564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10200" y="1676400"/>
                          <a:ext cx="1232646" cy="4490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6"/>
            <p:cNvGraphicFramePr>
              <a:graphicFrameLocks noChangeAspect="1"/>
            </p:cNvGraphicFramePr>
            <p:nvPr/>
          </p:nvGraphicFramePr>
          <p:xfrm>
            <a:off x="1524000" y="2057400"/>
            <a:ext cx="59531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17160" imgH="203040" progId="Equation.3">
                    <p:embed/>
                  </p:oleObj>
                </mc:Choice>
                <mc:Fallback>
                  <p:oleObj name="Equation" r:id="rId8" imgW="317160" imgH="20304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4000" y="2057400"/>
                          <a:ext cx="595313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5078676" y="4511842"/>
          <a:ext cx="657241" cy="4411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1200" imgH="215640" progId="Equation.3">
                  <p:embed/>
                </p:oleObj>
              </mc:Choice>
              <mc:Fallback>
                <p:oleObj name="Equation" r:id="rId10" imgW="241200" imgH="215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8676" y="4511842"/>
                        <a:ext cx="657241" cy="44115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21"/>
          <p:cNvGrpSpPr/>
          <p:nvPr/>
        </p:nvGrpSpPr>
        <p:grpSpPr>
          <a:xfrm>
            <a:off x="812589" y="4267200"/>
            <a:ext cx="9086216" cy="1194316"/>
            <a:chOff x="609600" y="4267200"/>
            <a:chExt cx="6816437" cy="1194316"/>
          </a:xfrm>
        </p:grpSpPr>
        <p:sp>
          <p:nvSpPr>
            <p:cNvPr id="18" name="Rectangle 17"/>
            <p:cNvSpPr/>
            <p:nvPr/>
          </p:nvSpPr>
          <p:spPr>
            <a:xfrm>
              <a:off x="3276600" y="4267200"/>
              <a:ext cx="1524000" cy="99060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2209800" y="4876800"/>
              <a:ext cx="10668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rot="10800000">
              <a:off x="4800600" y="4495800"/>
              <a:ext cx="7620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rot="10800000">
              <a:off x="4800600" y="5105400"/>
              <a:ext cx="16002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0" name="Object 29"/>
            <p:cNvGraphicFramePr>
              <a:graphicFrameLocks noChangeAspect="1"/>
            </p:cNvGraphicFramePr>
            <p:nvPr/>
          </p:nvGraphicFramePr>
          <p:xfrm>
            <a:off x="6553200" y="4724400"/>
            <a:ext cx="872837" cy="685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533160" imgH="419040" progId="Equation.3">
                    <p:embed/>
                  </p:oleObj>
                </mc:Choice>
                <mc:Fallback>
                  <p:oleObj name="Equation" r:id="rId12" imgW="533160" imgH="41904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53200" y="4724400"/>
                          <a:ext cx="872837" cy="685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30"/>
            <p:cNvGraphicFramePr>
              <a:graphicFrameLocks noChangeAspect="1"/>
            </p:cNvGraphicFramePr>
            <p:nvPr/>
          </p:nvGraphicFramePr>
          <p:xfrm>
            <a:off x="5715000" y="4267200"/>
            <a:ext cx="705971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42720" imgH="215640" progId="Equation.3">
                    <p:embed/>
                  </p:oleObj>
                </mc:Choice>
                <mc:Fallback>
                  <p:oleObj name="Equation" r:id="rId14" imgW="342720" imgH="21564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15000" y="4267200"/>
                          <a:ext cx="705971" cy="444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31"/>
            <p:cNvGraphicFramePr>
              <a:graphicFrameLocks noChangeAspect="1"/>
            </p:cNvGraphicFramePr>
            <p:nvPr/>
          </p:nvGraphicFramePr>
          <p:xfrm>
            <a:off x="609600" y="4572000"/>
            <a:ext cx="1524000" cy="8895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711000" imgH="457200" progId="Equation.3">
                    <p:embed/>
                  </p:oleObj>
                </mc:Choice>
                <mc:Fallback>
                  <p:oleObj name="Equation" r:id="rId16" imgW="711000" imgH="45720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9600" y="4572000"/>
                          <a:ext cx="1524000" cy="8895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721" y="304800"/>
            <a:ext cx="11680957" cy="6019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Differential equations are</a:t>
            </a:r>
          </a:p>
          <a:p>
            <a:pPr>
              <a:buNone/>
            </a:pPr>
            <a:endParaRPr lang="en-US" sz="28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1758826" y="914402"/>
          <a:ext cx="7687514" cy="1447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03240" imgH="838080" progId="Equation.3">
                  <p:embed/>
                </p:oleObj>
              </mc:Choice>
              <mc:Fallback>
                <p:oleObj name="Equation" r:id="rId2" imgW="1803240" imgH="8380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8826" y="914402"/>
                        <a:ext cx="7687514" cy="144779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711015" y="2286001"/>
          <a:ext cx="2031471" cy="567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760" imgH="203040" progId="Equation.3">
                  <p:embed/>
                </p:oleObj>
              </mc:Choice>
              <mc:Fallback>
                <p:oleObj name="Equation" r:id="rId4" imgW="545760" imgH="203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015" y="2286001"/>
                        <a:ext cx="2031471" cy="5670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640912" y="2286001"/>
          <a:ext cx="2437765" cy="541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85800" imgH="203040" progId="Equation.3">
                  <p:embed/>
                </p:oleObj>
              </mc:Choice>
              <mc:Fallback>
                <p:oleObj name="Equation" r:id="rId6" imgW="685800" imgH="2030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912" y="2286001"/>
                        <a:ext cx="2437765" cy="5418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5078677" y="2286000"/>
          <a:ext cx="71101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040" imgH="203040" progId="Equation.3">
                  <p:embed/>
                </p:oleObj>
              </mc:Choice>
              <mc:Fallback>
                <p:oleObj name="Equation" r:id="rId8" imgW="203040" imgH="2030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8677" y="2286000"/>
                        <a:ext cx="711015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5789692" y="2286001"/>
          <a:ext cx="1523603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06080" imgH="177480" progId="Equation.3">
                  <p:embed/>
                </p:oleObj>
              </mc:Choice>
              <mc:Fallback>
                <p:oleObj name="Equation" r:id="rId10" imgW="406080" imgH="1774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9692" y="2286001"/>
                        <a:ext cx="1523603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7313295" y="2286000"/>
          <a:ext cx="24174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47640" imgH="190440" progId="Equation.3">
                  <p:embed/>
                </p:oleObj>
              </mc:Choice>
              <mc:Fallback>
                <p:oleObj name="Equation" r:id="rId12" imgW="647640" imgH="1904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3295" y="2286000"/>
                        <a:ext cx="241745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914162" y="3048000"/>
          <a:ext cx="9852634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79480" imgH="482400" progId="Equation.3">
                  <p:embed/>
                </p:oleObj>
              </mc:Choice>
              <mc:Fallback>
                <p:oleObj name="Equation" r:id="rId14" imgW="2679480" imgH="4824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162" y="3048000"/>
                        <a:ext cx="9852634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609441" y="4343400"/>
          <a:ext cx="1320456" cy="462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80880" imgH="177480" progId="Equation.3">
                  <p:embed/>
                </p:oleObj>
              </mc:Choice>
              <mc:Fallback>
                <p:oleObj name="Equation" r:id="rId16" imgW="380880" imgH="1774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441" y="4343400"/>
                        <a:ext cx="1320456" cy="4622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3453500" y="4267200"/>
          <a:ext cx="2437765" cy="537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47640" imgH="190440" progId="Equation.3">
                  <p:embed/>
                </p:oleObj>
              </mc:Choice>
              <mc:Fallback>
                <p:oleObj name="Equation" r:id="rId18" imgW="647640" imgH="19044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3500" y="4267200"/>
                        <a:ext cx="2437765" cy="53788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1929898" y="4267201"/>
          <a:ext cx="1523604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06080" imgH="177480" progId="Equation.3">
                  <p:embed/>
                </p:oleObj>
              </mc:Choice>
              <mc:Fallback>
                <p:oleObj name="Equation" r:id="rId20" imgW="406080" imgH="1774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9898" y="4267201"/>
                        <a:ext cx="1523604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5688119" y="4267200"/>
          <a:ext cx="138097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66400" imgH="431640" progId="Equation.3">
                  <p:embed/>
                </p:oleObj>
              </mc:Choice>
              <mc:Fallback>
                <p:oleObj name="Equation" r:id="rId22" imgW="266400" imgH="43164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119" y="4267200"/>
                        <a:ext cx="1380978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2640912" y="5334000"/>
          <a:ext cx="742383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705040" imgH="431640" progId="Equation.3">
                  <p:embed/>
                </p:oleObj>
              </mc:Choice>
              <mc:Fallback>
                <p:oleObj name="Equation" r:id="rId24" imgW="2705040" imgH="43164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912" y="5334000"/>
                        <a:ext cx="7423832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1" name="Object 17"/>
          <p:cNvGraphicFramePr>
            <a:graphicFrameLocks noChangeAspect="1"/>
          </p:cNvGraphicFramePr>
          <p:nvPr/>
        </p:nvGraphicFramePr>
        <p:xfrm>
          <a:off x="6703854" y="4114800"/>
          <a:ext cx="994189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431640" imgH="419040" progId="Equation.3">
                  <p:embed/>
                </p:oleObj>
              </mc:Choice>
              <mc:Fallback>
                <p:oleObj name="Equation" r:id="rId26" imgW="431640" imgH="41904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3854" y="4114800"/>
                        <a:ext cx="994189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0F93E-7B42-55A4-6A58-E83D8C2F0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D9666C-4ABE-0F3B-4EA6-BB6A15882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0" y="136524"/>
            <a:ext cx="10969943" cy="715962"/>
          </a:xfrm>
        </p:spPr>
        <p:txBody>
          <a:bodyPr>
            <a:normAutofit/>
          </a:bodyPr>
          <a:lstStyle/>
          <a:p>
            <a:r>
              <a:rPr lang="en-US" sz="26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FREE BODY DAIGRAMS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6398E9-0F27-AA7A-24BF-159265DE6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5176C8-D153-50BA-436C-D5B6C92B2598}"/>
              </a:ext>
            </a:extLst>
          </p:cNvPr>
          <p:cNvSpPr txBox="1"/>
          <p:nvPr/>
        </p:nvSpPr>
        <p:spPr>
          <a:xfrm>
            <a:off x="684212" y="85695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3: Draw the free body diagram of the given system.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59" name="Group 1058">
            <a:extLst>
              <a:ext uri="{FF2B5EF4-FFF2-40B4-BE49-F238E27FC236}">
                <a16:creationId xmlns:a16="http://schemas.microsoft.com/office/drawing/2014/main" id="{9518C571-AB27-0215-A4DD-1C472EC57DF0}"/>
              </a:ext>
            </a:extLst>
          </p:cNvPr>
          <p:cNvGrpSpPr/>
          <p:nvPr/>
        </p:nvGrpSpPr>
        <p:grpSpPr>
          <a:xfrm>
            <a:off x="684212" y="1884733"/>
            <a:ext cx="8034297" cy="3088533"/>
            <a:chOff x="684212" y="1580687"/>
            <a:chExt cx="8034297" cy="3088533"/>
          </a:xfrm>
        </p:grpSpPr>
        <p:grpSp>
          <p:nvGrpSpPr>
            <p:cNvPr id="8" name="Group 2">
              <a:extLst>
                <a:ext uri="{FF2B5EF4-FFF2-40B4-BE49-F238E27FC236}">
                  <a16:creationId xmlns:a16="http://schemas.microsoft.com/office/drawing/2014/main" id="{B1253CD6-0163-8812-9B9D-01A589019BB4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186814" y="3046158"/>
              <a:ext cx="2206116" cy="228600"/>
              <a:chOff x="-10902" y="10440"/>
              <a:chExt cx="34832" cy="2347"/>
            </a:xfrm>
          </p:grpSpPr>
          <p:grpSp>
            <p:nvGrpSpPr>
              <p:cNvPr id="10" name="Group 3">
                <a:extLst>
                  <a:ext uri="{FF2B5EF4-FFF2-40B4-BE49-F238E27FC236}">
                    <a16:creationId xmlns:a16="http://schemas.microsoft.com/office/drawing/2014/main" id="{E3E18F2A-2E9E-76C0-656A-7BC5EF22D0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3685" y="10164"/>
                <a:ext cx="1260" cy="1811"/>
                <a:chOff x="5220" y="9900"/>
                <a:chExt cx="900" cy="2160"/>
              </a:xfrm>
            </p:grpSpPr>
            <p:sp>
              <p:nvSpPr>
                <p:cNvPr id="45" name="Arc 4">
                  <a:extLst>
                    <a:ext uri="{FF2B5EF4-FFF2-40B4-BE49-F238E27FC236}">
                      <a16:creationId xmlns:a16="http://schemas.microsoft.com/office/drawing/2014/main" id="{A71DE8FF-2249-DF23-7CA1-FCBF46551C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/>
                </a:p>
              </p:txBody>
            </p:sp>
            <p:sp>
              <p:nvSpPr>
                <p:cNvPr id="46" name="Arc 5">
                  <a:extLst>
                    <a:ext uri="{FF2B5EF4-FFF2-40B4-BE49-F238E27FC236}">
                      <a16:creationId xmlns:a16="http://schemas.microsoft.com/office/drawing/2014/main" id="{9B9B8249-90A6-D2B4-7A64-B6F3807609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/>
                </a:p>
              </p:txBody>
            </p:sp>
          </p:grpSp>
          <p:grpSp>
            <p:nvGrpSpPr>
              <p:cNvPr id="12" name="Group 6">
                <a:extLst>
                  <a:ext uri="{FF2B5EF4-FFF2-40B4-BE49-F238E27FC236}">
                    <a16:creationId xmlns:a16="http://schemas.microsoft.com/office/drawing/2014/main" id="{48DA1426-8258-0767-29A1-E7993F7D72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5040" y="9720"/>
                <a:ext cx="1260" cy="2700"/>
                <a:chOff x="5220" y="9900"/>
                <a:chExt cx="900" cy="2160"/>
              </a:xfrm>
            </p:grpSpPr>
            <p:sp>
              <p:nvSpPr>
                <p:cNvPr id="43" name="Arc 7">
                  <a:extLst>
                    <a:ext uri="{FF2B5EF4-FFF2-40B4-BE49-F238E27FC236}">
                      <a16:creationId xmlns:a16="http://schemas.microsoft.com/office/drawing/2014/main" id="{D929049E-5492-DD36-EEAA-24D98F4401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/>
                </a:p>
              </p:txBody>
            </p:sp>
            <p:sp>
              <p:nvSpPr>
                <p:cNvPr id="44" name="Arc 8">
                  <a:extLst>
                    <a:ext uri="{FF2B5EF4-FFF2-40B4-BE49-F238E27FC236}">
                      <a16:creationId xmlns:a16="http://schemas.microsoft.com/office/drawing/2014/main" id="{AFF8F702-DDA4-C308-B773-AFE9176305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/>
                </a:p>
              </p:txBody>
            </p:sp>
          </p:grpSp>
          <p:grpSp>
            <p:nvGrpSpPr>
              <p:cNvPr id="23" name="Group 9">
                <a:extLst>
                  <a:ext uri="{FF2B5EF4-FFF2-40B4-BE49-F238E27FC236}">
                    <a16:creationId xmlns:a16="http://schemas.microsoft.com/office/drawing/2014/main" id="{AF144E80-EF4C-C815-4E60-D77FC08288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6840" y="9720"/>
                <a:ext cx="1260" cy="2700"/>
                <a:chOff x="5220" y="9900"/>
                <a:chExt cx="900" cy="2160"/>
              </a:xfrm>
            </p:grpSpPr>
            <p:sp>
              <p:nvSpPr>
                <p:cNvPr id="41" name="Arc 10">
                  <a:extLst>
                    <a:ext uri="{FF2B5EF4-FFF2-40B4-BE49-F238E27FC236}">
                      <a16:creationId xmlns:a16="http://schemas.microsoft.com/office/drawing/2014/main" id="{A821898C-856D-3C67-7F6F-80F9FD2BD1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/>
                </a:p>
              </p:txBody>
            </p:sp>
            <p:sp>
              <p:nvSpPr>
                <p:cNvPr id="42" name="Arc 11">
                  <a:extLst>
                    <a:ext uri="{FF2B5EF4-FFF2-40B4-BE49-F238E27FC236}">
                      <a16:creationId xmlns:a16="http://schemas.microsoft.com/office/drawing/2014/main" id="{01C792A7-6E52-BF6A-E58A-DACB293499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/>
                </a:p>
              </p:txBody>
            </p:sp>
          </p:grpSp>
          <p:grpSp>
            <p:nvGrpSpPr>
              <p:cNvPr id="24" name="Group 12">
                <a:extLst>
                  <a:ext uri="{FF2B5EF4-FFF2-40B4-BE49-F238E27FC236}">
                    <a16:creationId xmlns:a16="http://schemas.microsoft.com/office/drawing/2014/main" id="{964E139D-396B-DDAA-CB69-28AB490152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8191" y="10169"/>
                <a:ext cx="1257" cy="1800"/>
                <a:chOff x="5220" y="9900"/>
                <a:chExt cx="900" cy="2160"/>
              </a:xfrm>
            </p:grpSpPr>
            <p:sp>
              <p:nvSpPr>
                <p:cNvPr id="39" name="Arc 13">
                  <a:extLst>
                    <a:ext uri="{FF2B5EF4-FFF2-40B4-BE49-F238E27FC236}">
                      <a16:creationId xmlns:a16="http://schemas.microsoft.com/office/drawing/2014/main" id="{3B729A53-EA19-362C-81B0-4B6B17A6E1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/>
                </a:p>
              </p:txBody>
            </p:sp>
            <p:sp>
              <p:nvSpPr>
                <p:cNvPr id="40" name="Arc 14">
                  <a:extLst>
                    <a:ext uri="{FF2B5EF4-FFF2-40B4-BE49-F238E27FC236}">
                      <a16:creationId xmlns:a16="http://schemas.microsoft.com/office/drawing/2014/main" id="{7EFD645D-BF01-9B71-F78B-87D8382636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/>
                </a:p>
              </p:txBody>
            </p:sp>
          </p:grpSp>
          <p:cxnSp>
            <p:nvCxnSpPr>
              <p:cNvPr id="1039" name="AutoShape 15">
                <a:extLst>
                  <a:ext uri="{FF2B5EF4-FFF2-40B4-BE49-F238E27FC236}">
                    <a16:creationId xmlns:a16="http://schemas.microsoft.com/office/drawing/2014/main" id="{9AD5B23E-FE7C-55D4-97F8-0C828EC777B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-10902" y="11704"/>
                <a:ext cx="14210" cy="0"/>
              </a:xfrm>
              <a:prstGeom prst="straightConnector1">
                <a:avLst/>
              </a:prstGeom>
              <a:noFill/>
              <a:ln w="15875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0" name="AutoShape 16">
                <a:extLst>
                  <a:ext uri="{FF2B5EF4-FFF2-40B4-BE49-F238E27FC236}">
                    <a16:creationId xmlns:a16="http://schemas.microsoft.com/office/drawing/2014/main" id="{B76B11E1-290F-4F92-4EE3-33BD333C810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9720" y="11699"/>
                <a:ext cx="14210" cy="0"/>
              </a:xfrm>
              <a:prstGeom prst="straightConnector1">
                <a:avLst/>
              </a:prstGeom>
              <a:noFill/>
              <a:ln w="15875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25" name="Group 17">
                <a:extLst>
                  <a:ext uri="{FF2B5EF4-FFF2-40B4-BE49-F238E27FC236}">
                    <a16:creationId xmlns:a16="http://schemas.microsoft.com/office/drawing/2014/main" id="{C4ADAF19-BF7C-CB6F-ABF1-C090EE15C8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4231" y="11786"/>
                <a:ext cx="1079" cy="901"/>
                <a:chOff x="5220" y="9900"/>
                <a:chExt cx="900" cy="2160"/>
              </a:xfrm>
            </p:grpSpPr>
            <p:sp>
              <p:nvSpPr>
                <p:cNvPr id="37" name="Arc 18">
                  <a:extLst>
                    <a:ext uri="{FF2B5EF4-FFF2-40B4-BE49-F238E27FC236}">
                      <a16:creationId xmlns:a16="http://schemas.microsoft.com/office/drawing/2014/main" id="{EA3A8F6D-15D1-D1C6-8D24-6E432DC050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/>
                </a:p>
              </p:txBody>
            </p:sp>
            <p:sp>
              <p:nvSpPr>
                <p:cNvPr id="38" name="Arc 19">
                  <a:extLst>
                    <a:ext uri="{FF2B5EF4-FFF2-40B4-BE49-F238E27FC236}">
                      <a16:creationId xmlns:a16="http://schemas.microsoft.com/office/drawing/2014/main" id="{30310AE6-7CBE-69B0-766A-4996DD7DE2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/>
                </a:p>
              </p:txBody>
            </p:sp>
          </p:grpSp>
          <p:grpSp>
            <p:nvGrpSpPr>
              <p:cNvPr id="26" name="Group 20">
                <a:extLst>
                  <a:ext uri="{FF2B5EF4-FFF2-40B4-BE49-F238E27FC236}">
                    <a16:creationId xmlns:a16="http://schemas.microsoft.com/office/drawing/2014/main" id="{7B051071-8288-3169-55C9-D5801AE979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6031" y="11789"/>
                <a:ext cx="1079" cy="901"/>
                <a:chOff x="5220" y="9900"/>
                <a:chExt cx="900" cy="2160"/>
              </a:xfrm>
            </p:grpSpPr>
            <p:sp>
              <p:nvSpPr>
                <p:cNvPr id="35" name="Arc 21">
                  <a:extLst>
                    <a:ext uri="{FF2B5EF4-FFF2-40B4-BE49-F238E27FC236}">
                      <a16:creationId xmlns:a16="http://schemas.microsoft.com/office/drawing/2014/main" id="{17CC9CCD-8E3C-3E54-004F-75D7B8627F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/>
                </a:p>
              </p:txBody>
            </p:sp>
            <p:sp>
              <p:nvSpPr>
                <p:cNvPr id="36" name="Arc 22">
                  <a:extLst>
                    <a:ext uri="{FF2B5EF4-FFF2-40B4-BE49-F238E27FC236}">
                      <a16:creationId xmlns:a16="http://schemas.microsoft.com/office/drawing/2014/main" id="{28AF1DB0-1BE7-033A-CFDA-FC68D98037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/>
                </a:p>
              </p:txBody>
            </p:sp>
          </p:grpSp>
          <p:grpSp>
            <p:nvGrpSpPr>
              <p:cNvPr id="28" name="Group 23">
                <a:extLst>
                  <a:ext uri="{FF2B5EF4-FFF2-40B4-BE49-F238E27FC236}">
                    <a16:creationId xmlns:a16="http://schemas.microsoft.com/office/drawing/2014/main" id="{1F80B4D8-9055-E073-11D3-13D116F22B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7831" y="11797"/>
                <a:ext cx="1079" cy="901"/>
                <a:chOff x="5220" y="9900"/>
                <a:chExt cx="900" cy="2160"/>
              </a:xfrm>
            </p:grpSpPr>
            <p:sp>
              <p:nvSpPr>
                <p:cNvPr id="33" name="Arc 24">
                  <a:extLst>
                    <a:ext uri="{FF2B5EF4-FFF2-40B4-BE49-F238E27FC236}">
                      <a16:creationId xmlns:a16="http://schemas.microsoft.com/office/drawing/2014/main" id="{9818DA80-FBF3-520D-205E-CF002BF376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/>
                </a:p>
              </p:txBody>
            </p:sp>
            <p:sp>
              <p:nvSpPr>
                <p:cNvPr id="34" name="Arc 25">
                  <a:extLst>
                    <a:ext uri="{FF2B5EF4-FFF2-40B4-BE49-F238E27FC236}">
                      <a16:creationId xmlns:a16="http://schemas.microsoft.com/office/drawing/2014/main" id="{C1645F86-8B2D-A3F1-0559-CA4E113EF8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5875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2000"/>
                </a:p>
              </p:txBody>
            </p:sp>
          </p:grpSp>
        </p:grp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F52A34E-5010-C27A-8A1F-017F33B7752F}"/>
                </a:ext>
              </a:extLst>
            </p:cNvPr>
            <p:cNvCxnSpPr/>
            <p:nvPr/>
          </p:nvCxnSpPr>
          <p:spPr>
            <a:xfrm>
              <a:off x="1298005" y="2057400"/>
              <a:ext cx="1368000" cy="0"/>
            </a:xfrm>
            <a:prstGeom prst="line">
              <a:avLst/>
            </a:prstGeom>
            <a:ln w="15875"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1DC738F-0DD5-6BE0-6645-37E61EB09705}"/>
                </a:ext>
              </a:extLst>
            </p:cNvPr>
            <p:cNvCxnSpPr/>
            <p:nvPr/>
          </p:nvCxnSpPr>
          <p:spPr>
            <a:xfrm>
              <a:off x="1298004" y="4266143"/>
              <a:ext cx="2739007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21B491A-31C0-686C-0199-DCE9B31AA29D}"/>
                </a:ext>
              </a:extLst>
            </p:cNvPr>
            <p:cNvSpPr/>
            <p:nvPr/>
          </p:nvSpPr>
          <p:spPr>
            <a:xfrm>
              <a:off x="2292292" y="2743200"/>
              <a:ext cx="761998" cy="698266"/>
            </a:xfrm>
            <a:prstGeom prst="rect">
              <a:avLst/>
            </a:prstGeom>
            <a:gradFill flip="none" rotWithShape="1">
              <a:gsLst>
                <a:gs pos="6000">
                  <a:schemeClr val="accent1">
                    <a:lumMod val="5000"/>
                    <a:lumOff val="95000"/>
                  </a:schemeClr>
                </a:gs>
                <a:gs pos="81000">
                  <a:srgbClr val="92D050"/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99748C18-3F49-CA91-7E02-BCBC186C6359}"/>
                </a:ext>
              </a:extLst>
            </p:cNvPr>
            <p:cNvGrpSpPr/>
            <p:nvPr/>
          </p:nvGrpSpPr>
          <p:grpSpPr>
            <a:xfrm>
              <a:off x="3686011" y="2928194"/>
              <a:ext cx="702000" cy="476940"/>
              <a:chOff x="6770108" y="2959940"/>
              <a:chExt cx="702000" cy="476940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E940B503-A63A-8236-EDBF-1CDFF2A21B26}"/>
                  </a:ext>
                </a:extLst>
              </p:cNvPr>
              <p:cNvGrpSpPr/>
              <p:nvPr/>
            </p:nvGrpSpPr>
            <p:grpSpPr>
              <a:xfrm>
                <a:off x="6770108" y="2959940"/>
                <a:ext cx="702000" cy="476940"/>
                <a:chOff x="6770108" y="2959940"/>
                <a:chExt cx="702000" cy="476940"/>
              </a:xfrm>
            </p:grpSpPr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984A8299-E88E-6ED3-A544-77E1B7D8D773}"/>
                    </a:ext>
                  </a:extLst>
                </p:cNvPr>
                <p:cNvCxnSpPr/>
                <p:nvPr/>
              </p:nvCxnSpPr>
              <p:spPr>
                <a:xfrm>
                  <a:off x="6780212" y="2959940"/>
                  <a:ext cx="0" cy="468000"/>
                </a:xfrm>
                <a:prstGeom prst="line">
                  <a:avLst/>
                </a:prstGeom>
                <a:ln w="31750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7E21CD3C-F37B-82EF-BECD-C7C3E94FF074}"/>
                    </a:ext>
                  </a:extLst>
                </p:cNvPr>
                <p:cNvCxnSpPr/>
                <p:nvPr/>
              </p:nvCxnSpPr>
              <p:spPr>
                <a:xfrm>
                  <a:off x="7466012" y="2968880"/>
                  <a:ext cx="0" cy="468000"/>
                </a:xfrm>
                <a:prstGeom prst="line">
                  <a:avLst/>
                </a:prstGeom>
                <a:ln w="31750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FD4A8B42-1901-6C9F-3DF1-D34673591440}"/>
                    </a:ext>
                  </a:extLst>
                </p:cNvPr>
                <p:cNvCxnSpPr/>
                <p:nvPr/>
              </p:nvCxnSpPr>
              <p:spPr>
                <a:xfrm>
                  <a:off x="6770108" y="3423443"/>
                  <a:ext cx="702000" cy="0"/>
                </a:xfrm>
                <a:prstGeom prst="line">
                  <a:avLst/>
                </a:prstGeom>
                <a:ln w="31750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27" name="Straight Connector 1026">
                <a:extLst>
                  <a:ext uri="{FF2B5EF4-FFF2-40B4-BE49-F238E27FC236}">
                    <a16:creationId xmlns:a16="http://schemas.microsoft.com/office/drawing/2014/main" id="{BFEB15C0-17BC-76E6-CC56-238AC2487998}"/>
                  </a:ext>
                </a:extLst>
              </p:cNvPr>
              <p:cNvCxnSpPr/>
              <p:nvPr/>
            </p:nvCxnSpPr>
            <p:spPr>
              <a:xfrm>
                <a:off x="6814532" y="3193940"/>
                <a:ext cx="612000" cy="0"/>
              </a:xfrm>
              <a:prstGeom prst="line">
                <a:avLst/>
              </a:prstGeom>
              <a:ln w="317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30" name="Straight Connector 1029">
              <a:extLst>
                <a:ext uri="{FF2B5EF4-FFF2-40B4-BE49-F238E27FC236}">
                  <a16:creationId xmlns:a16="http://schemas.microsoft.com/office/drawing/2014/main" id="{78D748DF-173C-5018-D247-F866CD262DDE}"/>
                </a:ext>
              </a:extLst>
            </p:cNvPr>
            <p:cNvCxnSpPr/>
            <p:nvPr/>
          </p:nvCxnSpPr>
          <p:spPr>
            <a:xfrm flipV="1">
              <a:off x="4036435" y="2057400"/>
              <a:ext cx="0" cy="1085213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1030">
              <a:extLst>
                <a:ext uri="{FF2B5EF4-FFF2-40B4-BE49-F238E27FC236}">
                  <a16:creationId xmlns:a16="http://schemas.microsoft.com/office/drawing/2014/main" id="{65E361E8-916C-7231-0EDA-00B78BE27403}"/>
                </a:ext>
              </a:extLst>
            </p:cNvPr>
            <p:cNvCxnSpPr/>
            <p:nvPr/>
          </p:nvCxnSpPr>
          <p:spPr>
            <a:xfrm flipV="1">
              <a:off x="4036435" y="3392424"/>
              <a:ext cx="0" cy="8748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1031">
              <a:extLst>
                <a:ext uri="{FF2B5EF4-FFF2-40B4-BE49-F238E27FC236}">
                  <a16:creationId xmlns:a16="http://schemas.microsoft.com/office/drawing/2014/main" id="{D9F33966-3EC5-B5B6-1A91-A778C1282028}"/>
                </a:ext>
              </a:extLst>
            </p:cNvPr>
            <p:cNvCxnSpPr/>
            <p:nvPr/>
          </p:nvCxnSpPr>
          <p:spPr>
            <a:xfrm>
              <a:off x="2673291" y="2064891"/>
              <a:ext cx="1368000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Straight Connector 1033">
              <a:extLst>
                <a:ext uri="{FF2B5EF4-FFF2-40B4-BE49-F238E27FC236}">
                  <a16:creationId xmlns:a16="http://schemas.microsoft.com/office/drawing/2014/main" id="{818668AC-B203-E7D4-5A5B-0391C409AB89}"/>
                </a:ext>
              </a:extLst>
            </p:cNvPr>
            <p:cNvCxnSpPr>
              <a:endCxn id="50" idx="0"/>
            </p:cNvCxnSpPr>
            <p:nvPr/>
          </p:nvCxnSpPr>
          <p:spPr>
            <a:xfrm>
              <a:off x="2666005" y="2064891"/>
              <a:ext cx="7286" cy="67830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D09A47A4-AAC5-8C2C-378F-03C8750D798C}"/>
                </a:ext>
              </a:extLst>
            </p:cNvPr>
            <p:cNvCxnSpPr/>
            <p:nvPr/>
          </p:nvCxnSpPr>
          <p:spPr>
            <a:xfrm>
              <a:off x="2669648" y="3453381"/>
              <a:ext cx="0" cy="813600"/>
            </a:xfrm>
            <a:prstGeom prst="line">
              <a:avLst/>
            </a:prstGeom>
            <a:ln w="15875">
              <a:solidFill>
                <a:schemeClr val="tx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Arrow Connector 1036">
              <a:extLst>
                <a:ext uri="{FF2B5EF4-FFF2-40B4-BE49-F238E27FC236}">
                  <a16:creationId xmlns:a16="http://schemas.microsoft.com/office/drawing/2014/main" id="{1C1AA231-01ED-5991-9352-08C5A949037E}"/>
                </a:ext>
              </a:extLst>
            </p:cNvPr>
            <p:cNvCxnSpPr>
              <a:cxnSpLocks/>
            </p:cNvCxnSpPr>
            <p:nvPr/>
          </p:nvCxnSpPr>
          <p:spPr>
            <a:xfrm>
              <a:off x="2673291" y="1687948"/>
              <a:ext cx="0" cy="369452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1043">
              <a:extLst>
                <a:ext uri="{FF2B5EF4-FFF2-40B4-BE49-F238E27FC236}">
                  <a16:creationId xmlns:a16="http://schemas.microsoft.com/office/drawing/2014/main" id="{34B44483-DD98-E3A1-17F8-EA4876FA8EDD}"/>
                </a:ext>
              </a:extLst>
            </p:cNvPr>
            <p:cNvCxnSpPr/>
            <p:nvPr/>
          </p:nvCxnSpPr>
          <p:spPr>
            <a:xfrm>
              <a:off x="2666005" y="4263516"/>
              <a:ext cx="0" cy="23228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1045">
              <a:extLst>
                <a:ext uri="{FF2B5EF4-FFF2-40B4-BE49-F238E27FC236}">
                  <a16:creationId xmlns:a16="http://schemas.microsoft.com/office/drawing/2014/main" id="{66344806-FA2B-F7FA-F1F3-DEAD5C3A7FFF}"/>
                </a:ext>
              </a:extLst>
            </p:cNvPr>
            <p:cNvCxnSpPr/>
            <p:nvPr/>
          </p:nvCxnSpPr>
          <p:spPr>
            <a:xfrm>
              <a:off x="2457832" y="4495800"/>
              <a:ext cx="3810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Connector 1046">
              <a:extLst>
                <a:ext uri="{FF2B5EF4-FFF2-40B4-BE49-F238E27FC236}">
                  <a16:creationId xmlns:a16="http://schemas.microsoft.com/office/drawing/2014/main" id="{2147070A-E329-9812-D129-E0505F4C181F}"/>
                </a:ext>
              </a:extLst>
            </p:cNvPr>
            <p:cNvCxnSpPr/>
            <p:nvPr/>
          </p:nvCxnSpPr>
          <p:spPr>
            <a:xfrm>
              <a:off x="2520892" y="4582510"/>
              <a:ext cx="2520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Connector 1047">
              <a:extLst>
                <a:ext uri="{FF2B5EF4-FFF2-40B4-BE49-F238E27FC236}">
                  <a16:creationId xmlns:a16="http://schemas.microsoft.com/office/drawing/2014/main" id="{A09C7551-6B24-BBBB-A8BD-D2C463852B0F}"/>
                </a:ext>
              </a:extLst>
            </p:cNvPr>
            <p:cNvCxnSpPr/>
            <p:nvPr/>
          </p:nvCxnSpPr>
          <p:spPr>
            <a:xfrm>
              <a:off x="2582361" y="4669220"/>
              <a:ext cx="1800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9" name="TextBox 1048">
              <a:extLst>
                <a:ext uri="{FF2B5EF4-FFF2-40B4-BE49-F238E27FC236}">
                  <a16:creationId xmlns:a16="http://schemas.microsoft.com/office/drawing/2014/main" id="{4756E4E2-FF8D-6792-07A3-B55BF2968E62}"/>
                </a:ext>
              </a:extLst>
            </p:cNvPr>
            <p:cNvSpPr txBox="1"/>
            <p:nvPr/>
          </p:nvSpPr>
          <p:spPr>
            <a:xfrm>
              <a:off x="684212" y="2985936"/>
              <a:ext cx="4518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DC4FBCCE-E978-511C-3666-DA76B63BF2A6}"/>
                </a:ext>
              </a:extLst>
            </p:cNvPr>
            <p:cNvSpPr txBox="1"/>
            <p:nvPr/>
          </p:nvSpPr>
          <p:spPr>
            <a:xfrm>
              <a:off x="1890217" y="2871353"/>
              <a:ext cx="4518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1" name="TextBox 1050">
              <a:extLst>
                <a:ext uri="{FF2B5EF4-FFF2-40B4-BE49-F238E27FC236}">
                  <a16:creationId xmlns:a16="http://schemas.microsoft.com/office/drawing/2014/main" id="{0287CE04-1422-67E2-ACFC-F6B2356D659F}"/>
                </a:ext>
              </a:extLst>
            </p:cNvPr>
            <p:cNvSpPr txBox="1"/>
            <p:nvPr/>
          </p:nvSpPr>
          <p:spPr>
            <a:xfrm>
              <a:off x="3378431" y="3027475"/>
              <a:ext cx="4518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2" name="TextBox 1051">
              <a:extLst>
                <a:ext uri="{FF2B5EF4-FFF2-40B4-BE49-F238E27FC236}">
                  <a16:creationId xmlns:a16="http://schemas.microsoft.com/office/drawing/2014/main" id="{43AF06B3-453F-49DB-6D8E-DBF036D8F9B7}"/>
                </a:ext>
              </a:extLst>
            </p:cNvPr>
            <p:cNvSpPr txBox="1"/>
            <p:nvPr/>
          </p:nvSpPr>
          <p:spPr>
            <a:xfrm>
              <a:off x="4383795" y="2114330"/>
              <a:ext cx="4577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54" name="Straight Connector 1053">
              <a:extLst>
                <a:ext uri="{FF2B5EF4-FFF2-40B4-BE49-F238E27FC236}">
                  <a16:creationId xmlns:a16="http://schemas.microsoft.com/office/drawing/2014/main" id="{E217556B-E5D4-F64D-6F9F-C851FE5326C6}"/>
                </a:ext>
              </a:extLst>
            </p:cNvPr>
            <p:cNvCxnSpPr/>
            <p:nvPr/>
          </p:nvCxnSpPr>
          <p:spPr>
            <a:xfrm>
              <a:off x="4164515" y="2057400"/>
              <a:ext cx="457773" cy="749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Arrow Connector 1055">
              <a:extLst>
                <a:ext uri="{FF2B5EF4-FFF2-40B4-BE49-F238E27FC236}">
                  <a16:creationId xmlns:a16="http://schemas.microsoft.com/office/drawing/2014/main" id="{C88488A7-F2D9-D78B-5E95-AAD6086DF69E}"/>
                </a:ext>
              </a:extLst>
            </p:cNvPr>
            <p:cNvCxnSpPr/>
            <p:nvPr/>
          </p:nvCxnSpPr>
          <p:spPr>
            <a:xfrm>
              <a:off x="4381915" y="2057400"/>
              <a:ext cx="0" cy="38100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7" name="TextBox 1056">
              <a:extLst>
                <a:ext uri="{FF2B5EF4-FFF2-40B4-BE49-F238E27FC236}">
                  <a16:creationId xmlns:a16="http://schemas.microsoft.com/office/drawing/2014/main" id="{427D3176-E760-4501-3F2F-B957C900D1FB}"/>
                </a:ext>
              </a:extLst>
            </p:cNvPr>
            <p:cNvSpPr txBox="1"/>
            <p:nvPr/>
          </p:nvSpPr>
          <p:spPr>
            <a:xfrm>
              <a:off x="2700593" y="1580687"/>
              <a:ext cx="4361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558A2293-3D49-8245-6BAF-E0515C003993}"/>
                </a:ext>
              </a:extLst>
            </p:cNvPr>
            <p:cNvSpPr txBox="1"/>
            <p:nvPr/>
          </p:nvSpPr>
          <p:spPr>
            <a:xfrm>
              <a:off x="8266679" y="2903210"/>
              <a:ext cx="4518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9" name="TextBox 1068">
              <a:extLst>
                <a:ext uri="{FF2B5EF4-FFF2-40B4-BE49-F238E27FC236}">
                  <a16:creationId xmlns:a16="http://schemas.microsoft.com/office/drawing/2014/main" id="{80C8F956-8B9C-02F7-2977-6A4840F93082}"/>
                </a:ext>
              </a:extLst>
            </p:cNvPr>
            <p:cNvSpPr txBox="1"/>
            <p:nvPr/>
          </p:nvSpPr>
          <p:spPr>
            <a:xfrm>
              <a:off x="8266679" y="2903210"/>
              <a:ext cx="4518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73" name="Group 1072">
            <a:extLst>
              <a:ext uri="{FF2B5EF4-FFF2-40B4-BE49-F238E27FC236}">
                <a16:creationId xmlns:a16="http://schemas.microsoft.com/office/drawing/2014/main" id="{156C232A-B1D6-5405-C17A-79AB22D15A96}"/>
              </a:ext>
            </a:extLst>
          </p:cNvPr>
          <p:cNvGrpSpPr/>
          <p:nvPr/>
        </p:nvGrpSpPr>
        <p:grpSpPr>
          <a:xfrm>
            <a:off x="8017467" y="1336489"/>
            <a:ext cx="2053165" cy="4707206"/>
            <a:chOff x="7466012" y="1328002"/>
            <a:chExt cx="2053165" cy="4707206"/>
          </a:xfrm>
        </p:grpSpPr>
        <p:sp>
          <p:nvSpPr>
            <p:cNvPr id="1060" name="Rectangle 1059">
              <a:extLst>
                <a:ext uri="{FF2B5EF4-FFF2-40B4-BE49-F238E27FC236}">
                  <a16:creationId xmlns:a16="http://schemas.microsoft.com/office/drawing/2014/main" id="{882445A3-0F7C-78BA-2B7C-194BA9B30206}"/>
                </a:ext>
              </a:extLst>
            </p:cNvPr>
            <p:cNvSpPr/>
            <p:nvPr/>
          </p:nvSpPr>
          <p:spPr>
            <a:xfrm>
              <a:off x="7466012" y="2708091"/>
              <a:ext cx="2053165" cy="1406707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99000">
                  <a:schemeClr val="accent6">
                    <a:lumMod val="75000"/>
                  </a:schemeClr>
                </a:gs>
              </a:gsLst>
              <a:path path="circle">
                <a:fillToRect l="50000" t="50000" r="50000" b="5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61" name="TextBox 1060">
              <a:extLst>
                <a:ext uri="{FF2B5EF4-FFF2-40B4-BE49-F238E27FC236}">
                  <a16:creationId xmlns:a16="http://schemas.microsoft.com/office/drawing/2014/main" id="{3E2244DD-87B7-0C5C-FB96-2FEF44170438}"/>
                </a:ext>
              </a:extLst>
            </p:cNvPr>
            <p:cNvSpPr txBox="1"/>
            <p:nvPr/>
          </p:nvSpPr>
          <p:spPr>
            <a:xfrm>
              <a:off x="8627915" y="1328002"/>
              <a:ext cx="4361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62" name="Straight Arrow Connector 1061">
              <a:extLst>
                <a:ext uri="{FF2B5EF4-FFF2-40B4-BE49-F238E27FC236}">
                  <a16:creationId xmlns:a16="http://schemas.microsoft.com/office/drawing/2014/main" id="{145129CF-93C6-A007-F0FD-BA0CE6ED9DBE}"/>
                </a:ext>
              </a:extLst>
            </p:cNvPr>
            <p:cNvCxnSpPr>
              <a:cxnSpLocks/>
            </p:cNvCxnSpPr>
            <p:nvPr/>
          </p:nvCxnSpPr>
          <p:spPr>
            <a:xfrm>
              <a:off x="8493402" y="1451332"/>
              <a:ext cx="0" cy="125675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Straight Arrow Connector 1063">
              <a:extLst>
                <a:ext uri="{FF2B5EF4-FFF2-40B4-BE49-F238E27FC236}">
                  <a16:creationId xmlns:a16="http://schemas.microsoft.com/office/drawing/2014/main" id="{0512C560-9D79-3B5A-342D-5EF5AD4E9E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8889" y="4111401"/>
              <a:ext cx="0" cy="125675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Arrow Connector 1064">
              <a:extLst>
                <a:ext uri="{FF2B5EF4-FFF2-40B4-BE49-F238E27FC236}">
                  <a16:creationId xmlns:a16="http://schemas.microsoft.com/office/drawing/2014/main" id="{5E399A1D-51F6-E313-DA73-6F18B3FF83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64095" y="4111400"/>
              <a:ext cx="0" cy="50400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Straight Arrow Connector 1065">
              <a:extLst>
                <a:ext uri="{FF2B5EF4-FFF2-40B4-BE49-F238E27FC236}">
                  <a16:creationId xmlns:a16="http://schemas.microsoft.com/office/drawing/2014/main" id="{28666B2B-436E-120C-C4ED-1DFE504352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4742" y="4111400"/>
              <a:ext cx="0" cy="50400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7" name="TextBox 1066">
              <a:extLst>
                <a:ext uri="{FF2B5EF4-FFF2-40B4-BE49-F238E27FC236}">
                  <a16:creationId xmlns:a16="http://schemas.microsoft.com/office/drawing/2014/main" id="{AA23110C-0403-ABF2-38FF-C42C2DDCB33A}"/>
                </a:ext>
              </a:extLst>
            </p:cNvPr>
            <p:cNvSpPr txBox="1"/>
            <p:nvPr/>
          </p:nvSpPr>
          <p:spPr>
            <a:xfrm>
              <a:off x="7466012" y="4565033"/>
              <a:ext cx="7396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 x</a:t>
              </a:r>
              <a:r>
                <a:rPr 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0" name="TextBox 1069">
              <a:extLst>
                <a:ext uri="{FF2B5EF4-FFF2-40B4-BE49-F238E27FC236}">
                  <a16:creationId xmlns:a16="http://schemas.microsoft.com/office/drawing/2014/main" id="{E6D3827B-D117-F6A0-3821-294478758BCF}"/>
                </a:ext>
              </a:extLst>
            </p:cNvPr>
            <p:cNvSpPr txBox="1"/>
            <p:nvPr/>
          </p:nvSpPr>
          <p:spPr>
            <a:xfrm>
              <a:off x="8270232" y="3185823"/>
              <a:ext cx="4518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71" name="TextBox 1070">
                  <a:extLst>
                    <a:ext uri="{FF2B5EF4-FFF2-40B4-BE49-F238E27FC236}">
                      <a16:creationId xmlns:a16="http://schemas.microsoft.com/office/drawing/2014/main" id="{2FE35CD6-1940-2733-DC20-7A2ED0269ACC}"/>
                    </a:ext>
                  </a:extLst>
                </p:cNvPr>
                <p:cNvSpPr txBox="1"/>
                <p:nvPr/>
              </p:nvSpPr>
              <p:spPr>
                <a:xfrm>
                  <a:off x="8748260" y="4654866"/>
                  <a:ext cx="660822" cy="5319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a14:m>
                  <a:r>
                    <a:rPr lang="en-I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1071" name="TextBox 1070">
                  <a:extLst>
                    <a:ext uri="{FF2B5EF4-FFF2-40B4-BE49-F238E27FC236}">
                      <a16:creationId xmlns:a16="http://schemas.microsoft.com/office/drawing/2014/main" id="{2FE35CD6-1940-2733-DC20-7A2ED0269A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8260" y="4654866"/>
                  <a:ext cx="660822" cy="531940"/>
                </a:xfrm>
                <a:prstGeom prst="rect">
                  <a:avLst/>
                </a:prstGeom>
                <a:blipFill>
                  <a:blip r:embed="rId3"/>
                  <a:stretch>
                    <a:fillRect l="-28704" t="-3448" b="-1839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72" name="TextBox 1071">
                  <a:extLst>
                    <a:ext uri="{FF2B5EF4-FFF2-40B4-BE49-F238E27FC236}">
                      <a16:creationId xmlns:a16="http://schemas.microsoft.com/office/drawing/2014/main" id="{AECD0DF4-1947-B504-2FEE-8C71211D140A}"/>
                    </a:ext>
                  </a:extLst>
                </p:cNvPr>
                <p:cNvSpPr txBox="1"/>
                <p:nvPr/>
              </p:nvSpPr>
              <p:spPr>
                <a:xfrm>
                  <a:off x="8131838" y="5459153"/>
                  <a:ext cx="832344" cy="5760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</a:t>
                  </a:r>
                  <a:r>
                    <a:rPr 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a14:m>
                  <a:endPara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72" name="TextBox 1071">
                  <a:extLst>
                    <a:ext uri="{FF2B5EF4-FFF2-40B4-BE49-F238E27FC236}">
                      <a16:creationId xmlns:a16="http://schemas.microsoft.com/office/drawing/2014/main" id="{AECD0DF4-1947-B504-2FEE-8C71211D14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31838" y="5459153"/>
                  <a:ext cx="832344" cy="576055"/>
                </a:xfrm>
                <a:prstGeom prst="rect">
                  <a:avLst/>
                </a:prstGeom>
                <a:blipFill>
                  <a:blip r:embed="rId4"/>
                  <a:stretch>
                    <a:fillRect l="-18248" b="-957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959823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721" y="152399"/>
            <a:ext cx="11680957" cy="624840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MECHANICAL EQUIVALENT NETWORK</a:t>
            </a:r>
            <a:endParaRPr lang="en-US" sz="24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The mechanical equivalent network is useful to determine the transfer function of the system. Following steps are applied to draw the mechanical equivalent network.</a:t>
            </a:r>
          </a:p>
          <a:p>
            <a:pPr>
              <a:lnSpc>
                <a:spcPct val="150000"/>
              </a:lnSpc>
              <a:buNone/>
            </a:pPr>
            <a:r>
              <a:rPr lang="en-GB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 1: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Draw a reference line. Consider the fixed points as reference.</a:t>
            </a:r>
          </a:p>
          <a:p>
            <a:pPr>
              <a:lnSpc>
                <a:spcPct val="150000"/>
              </a:lnSpc>
              <a:buNone/>
            </a:pPr>
            <a:r>
              <a:rPr lang="en-GB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 2: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Corresponding to the displacement x</a:t>
            </a:r>
            <a:r>
              <a:rPr lang="en-GB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, x</a:t>
            </a:r>
            <a:r>
              <a:rPr lang="en-GB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...., select the nodes.</a:t>
            </a:r>
          </a:p>
          <a:p>
            <a:pPr>
              <a:lnSpc>
                <a:spcPct val="150000"/>
              </a:lnSpc>
              <a:buNone/>
            </a:pPr>
            <a:r>
              <a:rPr lang="en-GB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 3: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Connect one end of the masses to the reference line.</a:t>
            </a:r>
          </a:p>
          <a:p>
            <a:pPr>
              <a:lnSpc>
                <a:spcPct val="150000"/>
              </a:lnSpc>
              <a:buNone/>
            </a:pPr>
            <a:r>
              <a:rPr lang="en-GB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 4: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Connect other elements of the system to the nodes.</a:t>
            </a:r>
          </a:p>
          <a:p>
            <a:pPr>
              <a:lnSpc>
                <a:spcPct val="150000"/>
              </a:lnSpc>
              <a:buNone/>
            </a:pPr>
            <a:r>
              <a:rPr lang="en-GB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 5: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Apply nodal analysis, write the equations.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50000"/>
              </a:lnSpc>
              <a:buNone/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9" y="381003"/>
            <a:ext cx="11782530" cy="6019801"/>
          </a:xfrm>
        </p:spPr>
        <p:txBody>
          <a:bodyPr/>
          <a:lstStyle/>
          <a:p>
            <a:pPr>
              <a:buNone/>
            </a:pP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EXAMPLE 4: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Consider the fig 1 and draw the mechanical equivalent network and write the equation.</a:t>
            </a:r>
          </a:p>
          <a:p>
            <a:pPr>
              <a:buNone/>
            </a:pPr>
            <a:endParaRPr lang="en-US" sz="24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23" name="AutoShape 29"/>
          <p:cNvSpPr>
            <a:spLocks noChangeShapeType="1"/>
          </p:cNvSpPr>
          <p:nvPr/>
        </p:nvSpPr>
        <p:spPr bwMode="auto">
          <a:xfrm flipV="1">
            <a:off x="9344766" y="2510137"/>
            <a:ext cx="0" cy="523875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25" tIns="45713" rIns="91425" bIns="45713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4" name="TextBox 113"/>
          <p:cNvSpPr txBox="1"/>
          <p:nvPr/>
        </p:nvSpPr>
        <p:spPr>
          <a:xfrm>
            <a:off x="11173089" y="2514602"/>
            <a:ext cx="507868" cy="461651"/>
          </a:xfrm>
          <a:prstGeom prst="rect">
            <a:avLst/>
          </a:prstGeom>
          <a:noFill/>
        </p:spPr>
        <p:txBody>
          <a:bodyPr wrap="square" lIns="91425" tIns="45713" rIns="91425" bIns="45713" rtlCol="0">
            <a:spAutoFit/>
          </a:bodyPr>
          <a:lstStyle/>
          <a:p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K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0" name="Group 124"/>
          <p:cNvGrpSpPr/>
          <p:nvPr/>
        </p:nvGrpSpPr>
        <p:grpSpPr>
          <a:xfrm>
            <a:off x="4570810" y="1752601"/>
            <a:ext cx="6602298" cy="2362199"/>
            <a:chOff x="3429000" y="1752600"/>
            <a:chExt cx="4953013" cy="2362199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4373881" y="4099561"/>
              <a:ext cx="3816001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AutoShape 27"/>
            <p:cNvSpPr>
              <a:spLocks noChangeShapeType="1"/>
            </p:cNvSpPr>
            <p:nvPr/>
          </p:nvSpPr>
          <p:spPr bwMode="auto">
            <a:xfrm>
              <a:off x="6553202" y="2510136"/>
              <a:ext cx="9525" cy="523875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25" tIns="45713" rIns="91425" bIns="45713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AutoShape 28"/>
            <p:cNvSpPr>
              <a:spLocks noChangeShapeType="1"/>
            </p:cNvSpPr>
            <p:nvPr/>
          </p:nvSpPr>
          <p:spPr bwMode="auto">
            <a:xfrm>
              <a:off x="6568441" y="3043535"/>
              <a:ext cx="447674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25" tIns="45713" rIns="91425" bIns="45713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AutoShape 30"/>
            <p:cNvSpPr>
              <a:spLocks noChangeShapeType="1"/>
            </p:cNvSpPr>
            <p:nvPr/>
          </p:nvSpPr>
          <p:spPr bwMode="auto">
            <a:xfrm>
              <a:off x="6553202" y="2738735"/>
              <a:ext cx="447674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25" tIns="45713" rIns="91425" bIns="45713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AutoShape 31"/>
            <p:cNvSpPr>
              <a:spLocks noChangeShapeType="1"/>
            </p:cNvSpPr>
            <p:nvPr/>
          </p:nvSpPr>
          <p:spPr bwMode="auto">
            <a:xfrm flipH="1" flipV="1">
              <a:off x="6781801" y="1752600"/>
              <a:ext cx="0" cy="97200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25" tIns="45713" rIns="91425" bIns="45713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AutoShape 32"/>
            <p:cNvSpPr>
              <a:spLocks noChangeShapeType="1"/>
            </p:cNvSpPr>
            <p:nvPr/>
          </p:nvSpPr>
          <p:spPr bwMode="auto">
            <a:xfrm flipH="1">
              <a:off x="6781799" y="3053496"/>
              <a:ext cx="0" cy="104400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25" tIns="45713" rIns="91425" bIns="45713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6"/>
            <p:cNvSpPr>
              <a:spLocks noChangeArrowheads="1"/>
            </p:cNvSpPr>
            <p:nvPr/>
          </p:nvSpPr>
          <p:spPr bwMode="auto">
            <a:xfrm>
              <a:off x="5181600" y="2377439"/>
              <a:ext cx="685801" cy="685801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25" tIns="45713" rIns="91425" bIns="45713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>
                  <a:latin typeface="Calibri" pitchFamily="34" charset="0"/>
                  <a:ea typeface="Calibri" pitchFamily="34" charset="0"/>
                  <a:cs typeface="Arial" pitchFamily="34" charset="0"/>
                </a:rPr>
                <a:t>        </a:t>
              </a:r>
              <a:endParaRPr lang="en-US" sz="900" dirty="0">
                <a:latin typeface="Arial" pitchFamily="34" charset="0"/>
                <a:cs typeface="Arial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288281" y="2484120"/>
              <a:ext cx="457199" cy="461651"/>
            </a:xfrm>
            <a:prstGeom prst="rect">
              <a:avLst/>
            </a:prstGeom>
            <a:noFill/>
          </p:spPr>
          <p:txBody>
            <a:bodyPr wrap="square" lIns="91425" tIns="45713" rIns="91425" bIns="45713" rtlCol="0">
              <a:spAutoFit/>
            </a:bodyPr>
            <a:lstStyle/>
            <a:p>
              <a:r>
                <a:rPr lang="en-GB" sz="2400" dirty="0">
                  <a:latin typeface="Times New Roman" pitchFamily="18" charset="0"/>
                  <a:cs typeface="Times New Roman" pitchFamily="18" charset="0"/>
                </a:rPr>
                <a:t>M</a:t>
              </a:r>
              <a:endParaRPr lang="en-US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1" name="Straight Connector 30"/>
            <p:cNvCxnSpPr/>
            <p:nvPr/>
          </p:nvCxnSpPr>
          <p:spPr>
            <a:xfrm rot="16200000" flipV="1">
              <a:off x="5204460" y="2065021"/>
              <a:ext cx="62484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16200000" flipV="1">
              <a:off x="5025361" y="3592799"/>
              <a:ext cx="1044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4373881" y="1767841"/>
              <a:ext cx="3816001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/>
            <p:cNvSpPr/>
            <p:nvPr/>
          </p:nvSpPr>
          <p:spPr>
            <a:xfrm>
              <a:off x="4038600" y="2590801"/>
              <a:ext cx="685801" cy="6858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5" tIns="45713" rIns="91425" bIns="45713"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Connector 36"/>
            <p:cNvCxnSpPr>
              <a:stCxn id="35" idx="4"/>
            </p:cNvCxnSpPr>
            <p:nvPr/>
          </p:nvCxnSpPr>
          <p:spPr>
            <a:xfrm rot="16200000" flipH="1">
              <a:off x="3962402" y="3695700"/>
              <a:ext cx="83819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 flipH="1" flipV="1">
              <a:off x="3970022" y="2171700"/>
              <a:ext cx="83819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rot="16200000" flipV="1">
              <a:off x="4147502" y="2935921"/>
              <a:ext cx="468000" cy="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Group 2"/>
            <p:cNvGrpSpPr>
              <a:grpSpLocks/>
            </p:cNvGrpSpPr>
            <p:nvPr/>
          </p:nvGrpSpPr>
          <p:grpSpPr bwMode="auto">
            <a:xfrm rot="5400000">
              <a:off x="7024039" y="2746169"/>
              <a:ext cx="2336246" cy="379702"/>
              <a:chOff x="-1508" y="10440"/>
              <a:chExt cx="16599" cy="2339"/>
            </a:xfrm>
          </p:grpSpPr>
          <p:grpSp>
            <p:nvGrpSpPr>
              <p:cNvPr id="43" name="Group 3"/>
              <p:cNvGrpSpPr>
                <a:grpSpLocks/>
              </p:cNvGrpSpPr>
              <p:nvPr/>
            </p:nvGrpSpPr>
            <p:grpSpPr bwMode="auto">
              <a:xfrm rot="16200000">
                <a:off x="3685" y="10164"/>
                <a:ext cx="1260" cy="1811"/>
                <a:chOff x="5220" y="9900"/>
                <a:chExt cx="900" cy="2160"/>
              </a:xfrm>
            </p:grpSpPr>
            <p:sp>
              <p:nvSpPr>
                <p:cNvPr id="92164" name="Arc 4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165" name="Arc 5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4" name="Group 6"/>
              <p:cNvGrpSpPr>
                <a:grpSpLocks/>
              </p:cNvGrpSpPr>
              <p:nvPr/>
            </p:nvGrpSpPr>
            <p:grpSpPr bwMode="auto">
              <a:xfrm rot="16200000">
                <a:off x="5040" y="9720"/>
                <a:ext cx="1260" cy="2700"/>
                <a:chOff x="5220" y="9900"/>
                <a:chExt cx="900" cy="2160"/>
              </a:xfrm>
            </p:grpSpPr>
            <p:sp>
              <p:nvSpPr>
                <p:cNvPr id="92167" name="Arc 7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168" name="Arc 8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5" name="Group 9"/>
              <p:cNvGrpSpPr>
                <a:grpSpLocks/>
              </p:cNvGrpSpPr>
              <p:nvPr/>
            </p:nvGrpSpPr>
            <p:grpSpPr bwMode="auto">
              <a:xfrm rot="16200000">
                <a:off x="6840" y="9720"/>
                <a:ext cx="1260" cy="2700"/>
                <a:chOff x="5220" y="9900"/>
                <a:chExt cx="900" cy="2160"/>
              </a:xfrm>
            </p:grpSpPr>
            <p:sp>
              <p:nvSpPr>
                <p:cNvPr id="92170" name="Arc 10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171" name="Arc 11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6" name="Group 12"/>
              <p:cNvGrpSpPr>
                <a:grpSpLocks/>
              </p:cNvGrpSpPr>
              <p:nvPr/>
            </p:nvGrpSpPr>
            <p:grpSpPr bwMode="auto">
              <a:xfrm rot="16200000">
                <a:off x="8191" y="10169"/>
                <a:ext cx="1257" cy="1800"/>
                <a:chOff x="5220" y="9900"/>
                <a:chExt cx="900" cy="2160"/>
              </a:xfrm>
            </p:grpSpPr>
            <p:sp>
              <p:nvSpPr>
                <p:cNvPr id="92173" name="Arc 13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174" name="Arc 14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92175" name="AutoShape 15"/>
              <p:cNvCxnSpPr>
                <a:cxnSpLocks noChangeShapeType="1"/>
              </p:cNvCxnSpPr>
              <p:nvPr/>
            </p:nvCxnSpPr>
            <p:spPr bwMode="auto">
              <a:xfrm flipH="1">
                <a:off x="-1508" y="11704"/>
                <a:ext cx="4860" cy="0"/>
              </a:xfrm>
              <a:prstGeom prst="straightConnector1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92176" name="AutoShape 16"/>
              <p:cNvCxnSpPr>
                <a:cxnSpLocks noChangeShapeType="1"/>
              </p:cNvCxnSpPr>
              <p:nvPr/>
            </p:nvCxnSpPr>
            <p:spPr bwMode="auto">
              <a:xfrm flipH="1">
                <a:off x="9720" y="11699"/>
                <a:ext cx="5371" cy="0"/>
              </a:xfrm>
              <a:prstGeom prst="straightConnector1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</p:cxnSp>
          <p:grpSp>
            <p:nvGrpSpPr>
              <p:cNvPr id="47" name="Group 17"/>
              <p:cNvGrpSpPr>
                <a:grpSpLocks/>
              </p:cNvGrpSpPr>
              <p:nvPr/>
            </p:nvGrpSpPr>
            <p:grpSpPr bwMode="auto">
              <a:xfrm rot="5400000">
                <a:off x="4231" y="11786"/>
                <a:ext cx="1079" cy="901"/>
                <a:chOff x="5220" y="9900"/>
                <a:chExt cx="900" cy="2160"/>
              </a:xfrm>
            </p:grpSpPr>
            <p:sp>
              <p:nvSpPr>
                <p:cNvPr id="92178" name="Arc 18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179" name="Arc 19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8" name="Group 20"/>
              <p:cNvGrpSpPr>
                <a:grpSpLocks/>
              </p:cNvGrpSpPr>
              <p:nvPr/>
            </p:nvGrpSpPr>
            <p:grpSpPr bwMode="auto">
              <a:xfrm rot="5400000">
                <a:off x="6031" y="11789"/>
                <a:ext cx="1079" cy="901"/>
                <a:chOff x="5220" y="9900"/>
                <a:chExt cx="900" cy="2160"/>
              </a:xfrm>
            </p:grpSpPr>
            <p:sp>
              <p:nvSpPr>
                <p:cNvPr id="92181" name="Arc 21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182" name="Arc 22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9" name="Group 23"/>
              <p:cNvGrpSpPr>
                <a:grpSpLocks/>
              </p:cNvGrpSpPr>
              <p:nvPr/>
            </p:nvGrpSpPr>
            <p:grpSpPr bwMode="auto">
              <a:xfrm rot="5400000">
                <a:off x="7830" y="11706"/>
                <a:ext cx="1082" cy="901"/>
                <a:chOff x="5140" y="9900"/>
                <a:chExt cx="902" cy="2160"/>
              </a:xfrm>
            </p:grpSpPr>
            <p:sp>
              <p:nvSpPr>
                <p:cNvPr id="92184" name="Arc 24"/>
                <p:cNvSpPr>
                  <a:spLocks/>
                </p:cNvSpPr>
                <p:nvPr/>
              </p:nvSpPr>
              <p:spPr bwMode="auto">
                <a:xfrm>
                  <a:off x="5142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185" name="Arc 25"/>
                <p:cNvSpPr>
                  <a:spLocks/>
                </p:cNvSpPr>
                <p:nvPr/>
              </p:nvSpPr>
              <p:spPr bwMode="auto">
                <a:xfrm flipV="1">
                  <a:off x="514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113" name="TextBox 112"/>
            <p:cNvSpPr txBox="1"/>
            <p:nvPr/>
          </p:nvSpPr>
          <p:spPr>
            <a:xfrm>
              <a:off x="7010400" y="2514601"/>
              <a:ext cx="381000" cy="461651"/>
            </a:xfrm>
            <a:prstGeom prst="rect">
              <a:avLst/>
            </a:prstGeom>
            <a:noFill/>
          </p:spPr>
          <p:txBody>
            <a:bodyPr wrap="square" lIns="91425" tIns="45713" rIns="91425" bIns="45713" rtlCol="0">
              <a:spAutoFit/>
            </a:bodyPr>
            <a:lstStyle/>
            <a:p>
              <a:r>
                <a:rPr lang="en-GB" sz="2400" dirty="0">
                  <a:latin typeface="Times New Roman" pitchFamily="18" charset="0"/>
                  <a:cs typeface="Times New Roman" pitchFamily="18" charset="0"/>
                </a:rPr>
                <a:t>B</a:t>
              </a:r>
              <a:endParaRPr lang="en-US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3429000" y="2667000"/>
              <a:ext cx="762000" cy="461651"/>
            </a:xfrm>
            <a:prstGeom prst="rect">
              <a:avLst/>
            </a:prstGeom>
            <a:noFill/>
          </p:spPr>
          <p:txBody>
            <a:bodyPr wrap="square" lIns="91425" tIns="45713" rIns="91425" bIns="45713" rtlCol="0">
              <a:spAutoFit/>
            </a:bodyPr>
            <a:lstStyle/>
            <a:p>
              <a:r>
                <a:rPr lang="en-GB" sz="2400" dirty="0">
                  <a:latin typeface="Times New Roman" pitchFamily="18" charset="0"/>
                  <a:cs typeface="Times New Roman" pitchFamily="18" charset="0"/>
                </a:rPr>
                <a:t>f(t)</a:t>
              </a:r>
              <a:endParaRPr lang="en-US" sz="24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914164" y="1900534"/>
            <a:ext cx="3439505" cy="3128666"/>
            <a:chOff x="685801" y="1900534"/>
            <a:chExt cx="2580301" cy="3128666"/>
          </a:xfrm>
        </p:grpSpPr>
        <p:grpSp>
          <p:nvGrpSpPr>
            <p:cNvPr id="2" name="Group 4"/>
            <p:cNvGrpSpPr/>
            <p:nvPr/>
          </p:nvGrpSpPr>
          <p:grpSpPr>
            <a:xfrm>
              <a:off x="914401" y="1900534"/>
              <a:ext cx="2351701" cy="3128666"/>
              <a:chOff x="5638800" y="2133599"/>
              <a:chExt cx="2351700" cy="3128666"/>
            </a:xfrm>
          </p:grpSpPr>
          <p:sp>
            <p:nvSpPr>
              <p:cNvPr id="7" name="Rectangle 26"/>
              <p:cNvSpPr>
                <a:spLocks noChangeArrowheads="1"/>
              </p:cNvSpPr>
              <p:nvPr/>
            </p:nvSpPr>
            <p:spPr bwMode="auto">
              <a:xfrm>
                <a:off x="5791200" y="3581400"/>
                <a:ext cx="1600200" cy="68580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dirty="0">
                    <a:latin typeface="Calibri" pitchFamily="34" charset="0"/>
                    <a:ea typeface="Calibri" pitchFamily="34" charset="0"/>
                    <a:cs typeface="Arial" pitchFamily="34" charset="0"/>
                  </a:rPr>
                  <a:t>        M</a:t>
                </a:r>
                <a:endParaRPr lang="en-US" sz="900" dirty="0">
                  <a:latin typeface="Arial" pitchFamily="34" charset="0"/>
                  <a:cs typeface="Arial" pitchFamily="34" charset="0"/>
                </a:endParaRP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dirty="0"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5" name="Group 26"/>
              <p:cNvGrpSpPr/>
              <p:nvPr/>
            </p:nvGrpSpPr>
            <p:grpSpPr>
              <a:xfrm>
                <a:off x="6858000" y="2133600"/>
                <a:ext cx="462915" cy="1443360"/>
                <a:chOff x="6858000" y="2133600"/>
                <a:chExt cx="462915" cy="1443360"/>
              </a:xfrm>
            </p:grpSpPr>
            <p:sp>
              <p:nvSpPr>
                <p:cNvPr id="13" name="AutoShape 27"/>
                <p:cNvSpPr>
                  <a:spLocks noChangeShapeType="1"/>
                </p:cNvSpPr>
                <p:nvPr/>
              </p:nvSpPr>
              <p:spPr bwMode="auto">
                <a:xfrm>
                  <a:off x="6858000" y="2590800"/>
                  <a:ext cx="9525" cy="523875"/>
                </a:xfrm>
                <a:prstGeom prst="straightConnector1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" name="AutoShape 28"/>
                <p:cNvSpPr>
                  <a:spLocks noChangeShapeType="1"/>
                </p:cNvSpPr>
                <p:nvPr/>
              </p:nvSpPr>
              <p:spPr bwMode="auto">
                <a:xfrm>
                  <a:off x="6873240" y="3124200"/>
                  <a:ext cx="447675" cy="0"/>
                </a:xfrm>
                <a:prstGeom prst="straightConnector1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" name="AutoShape 29"/>
                <p:cNvSpPr>
                  <a:spLocks noChangeShapeType="1"/>
                </p:cNvSpPr>
                <p:nvPr/>
              </p:nvSpPr>
              <p:spPr bwMode="auto">
                <a:xfrm flipV="1">
                  <a:off x="7315200" y="2590800"/>
                  <a:ext cx="0" cy="523875"/>
                </a:xfrm>
                <a:prstGeom prst="straightConnector1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" name="AutoShape 30"/>
                <p:cNvSpPr>
                  <a:spLocks noChangeShapeType="1"/>
                </p:cNvSpPr>
                <p:nvPr/>
              </p:nvSpPr>
              <p:spPr bwMode="auto">
                <a:xfrm>
                  <a:off x="6858000" y="2819400"/>
                  <a:ext cx="447675" cy="0"/>
                </a:xfrm>
                <a:prstGeom prst="straightConnector1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AutoShape 31"/>
                <p:cNvSpPr>
                  <a:spLocks noChangeShapeType="1"/>
                </p:cNvSpPr>
                <p:nvPr/>
              </p:nvSpPr>
              <p:spPr bwMode="auto">
                <a:xfrm flipH="1" flipV="1">
                  <a:off x="7086600" y="2133600"/>
                  <a:ext cx="0" cy="685800"/>
                </a:xfrm>
                <a:prstGeom prst="straightConnector1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" name="AutoShape 32"/>
                <p:cNvSpPr>
                  <a:spLocks noChangeShapeType="1"/>
                </p:cNvSpPr>
                <p:nvPr/>
              </p:nvSpPr>
              <p:spPr bwMode="auto">
                <a:xfrm flipH="1">
                  <a:off x="7086599" y="3134160"/>
                  <a:ext cx="0" cy="442800"/>
                </a:xfrm>
                <a:prstGeom prst="straightConnector1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9" name="AutoShape 33"/>
              <p:cNvSpPr>
                <a:spLocks noChangeShapeType="1"/>
              </p:cNvSpPr>
              <p:nvPr/>
            </p:nvSpPr>
            <p:spPr bwMode="auto">
              <a:xfrm flipV="1">
                <a:off x="5638800" y="2133599"/>
                <a:ext cx="1762125" cy="0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AutoShape 35"/>
              <p:cNvSpPr>
                <a:spLocks noChangeShapeType="1"/>
              </p:cNvSpPr>
              <p:nvPr/>
            </p:nvSpPr>
            <p:spPr bwMode="auto">
              <a:xfrm flipH="1">
                <a:off x="6598919" y="4267200"/>
                <a:ext cx="0" cy="548640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6248399" y="4800600"/>
                <a:ext cx="83820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Times New Roman" pitchFamily="18" charset="0"/>
                    <a:ea typeface="Calibri" pitchFamily="34" charset="0"/>
                    <a:cs typeface="Times New Roman" pitchFamily="18" charset="0"/>
                  </a:rPr>
                  <a:t> F(t)</a:t>
                </a: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7315200" y="4587239"/>
                <a:ext cx="675300" cy="3847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900" dirty="0">
                    <a:latin typeface="Times New Roman" pitchFamily="18" charset="0"/>
                    <a:cs typeface="Times New Roman" pitchFamily="18" charset="0"/>
                  </a:rPr>
                  <a:t>X(t)</a:t>
                </a:r>
              </a:p>
            </p:txBody>
          </p:sp>
        </p:grpSp>
        <p:grpSp>
          <p:nvGrpSpPr>
            <p:cNvPr id="6" name="Group 2"/>
            <p:cNvGrpSpPr>
              <a:grpSpLocks/>
            </p:cNvGrpSpPr>
            <p:nvPr/>
          </p:nvGrpSpPr>
          <p:grpSpPr bwMode="auto">
            <a:xfrm rot="5400000">
              <a:off x="604341" y="2443472"/>
              <a:ext cx="1456863" cy="379864"/>
              <a:chOff x="1415" y="10440"/>
              <a:chExt cx="10351" cy="2340"/>
            </a:xfrm>
          </p:grpSpPr>
          <p:grpSp>
            <p:nvGrpSpPr>
              <p:cNvPr id="8" name="Group 3"/>
              <p:cNvGrpSpPr>
                <a:grpSpLocks/>
              </p:cNvGrpSpPr>
              <p:nvPr/>
            </p:nvGrpSpPr>
            <p:grpSpPr bwMode="auto">
              <a:xfrm rot="16200000">
                <a:off x="3690" y="10164"/>
                <a:ext cx="1260" cy="1812"/>
                <a:chOff x="5220" y="9900"/>
                <a:chExt cx="900" cy="2160"/>
              </a:xfrm>
            </p:grpSpPr>
            <p:sp>
              <p:nvSpPr>
                <p:cNvPr id="111" name="Arc 4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2" name="Arc 5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6"/>
              <p:cNvGrpSpPr>
                <a:grpSpLocks/>
              </p:cNvGrpSpPr>
              <p:nvPr/>
            </p:nvGrpSpPr>
            <p:grpSpPr bwMode="auto">
              <a:xfrm rot="16200000">
                <a:off x="5040" y="9720"/>
                <a:ext cx="1260" cy="2700"/>
                <a:chOff x="5220" y="9900"/>
                <a:chExt cx="900" cy="2160"/>
              </a:xfrm>
            </p:grpSpPr>
            <p:sp>
              <p:nvSpPr>
                <p:cNvPr id="109" name="Arc 7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" name="Arc 8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7" name="Group 9"/>
              <p:cNvGrpSpPr>
                <a:grpSpLocks/>
              </p:cNvGrpSpPr>
              <p:nvPr/>
            </p:nvGrpSpPr>
            <p:grpSpPr bwMode="auto">
              <a:xfrm rot="16200000">
                <a:off x="6840" y="9720"/>
                <a:ext cx="1260" cy="2700"/>
                <a:chOff x="5220" y="9900"/>
                <a:chExt cx="900" cy="2160"/>
              </a:xfrm>
            </p:grpSpPr>
            <p:sp>
              <p:nvSpPr>
                <p:cNvPr id="107" name="Arc 10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8" name="Arc 11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0" name="Group 12"/>
              <p:cNvGrpSpPr>
                <a:grpSpLocks/>
              </p:cNvGrpSpPr>
              <p:nvPr/>
            </p:nvGrpSpPr>
            <p:grpSpPr bwMode="auto">
              <a:xfrm rot="16200000">
                <a:off x="8191" y="10169"/>
                <a:ext cx="1257" cy="1800"/>
                <a:chOff x="5220" y="9900"/>
                <a:chExt cx="900" cy="2160"/>
              </a:xfrm>
            </p:grpSpPr>
            <p:sp>
              <p:nvSpPr>
                <p:cNvPr id="105" name="Arc 13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6" name="Arc 14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94" name="AutoShape 15"/>
              <p:cNvCxnSpPr>
                <a:cxnSpLocks noChangeShapeType="1"/>
              </p:cNvCxnSpPr>
              <p:nvPr/>
            </p:nvCxnSpPr>
            <p:spPr bwMode="auto">
              <a:xfrm flipH="1">
                <a:off x="1415" y="11704"/>
                <a:ext cx="2046" cy="0"/>
              </a:xfrm>
              <a:prstGeom prst="straightConnector1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95" name="AutoShape 16"/>
              <p:cNvCxnSpPr>
                <a:cxnSpLocks noChangeShapeType="1"/>
              </p:cNvCxnSpPr>
              <p:nvPr/>
            </p:nvCxnSpPr>
            <p:spPr bwMode="auto">
              <a:xfrm flipH="1">
                <a:off x="9720" y="11699"/>
                <a:ext cx="2046" cy="0"/>
              </a:xfrm>
              <a:prstGeom prst="straightConnector1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</p:cxnSp>
          <p:grpSp>
            <p:nvGrpSpPr>
              <p:cNvPr id="33" name="Group 17"/>
              <p:cNvGrpSpPr>
                <a:grpSpLocks/>
              </p:cNvGrpSpPr>
              <p:nvPr/>
            </p:nvGrpSpPr>
            <p:grpSpPr bwMode="auto">
              <a:xfrm rot="5400000">
                <a:off x="4227" y="11787"/>
                <a:ext cx="1079" cy="902"/>
                <a:chOff x="5220" y="9900"/>
                <a:chExt cx="900" cy="2160"/>
              </a:xfrm>
            </p:grpSpPr>
            <p:sp>
              <p:nvSpPr>
                <p:cNvPr id="103" name="Arc 18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" name="Arc 19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6" name="Group 20"/>
              <p:cNvGrpSpPr>
                <a:grpSpLocks/>
              </p:cNvGrpSpPr>
              <p:nvPr/>
            </p:nvGrpSpPr>
            <p:grpSpPr bwMode="auto">
              <a:xfrm rot="5400000">
                <a:off x="6027" y="11790"/>
                <a:ext cx="1079" cy="902"/>
                <a:chOff x="5220" y="9900"/>
                <a:chExt cx="900" cy="2160"/>
              </a:xfrm>
            </p:grpSpPr>
            <p:sp>
              <p:nvSpPr>
                <p:cNvPr id="101" name="Arc 21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" name="Arc 22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8" name="Group 23"/>
              <p:cNvGrpSpPr>
                <a:grpSpLocks/>
              </p:cNvGrpSpPr>
              <p:nvPr/>
            </p:nvGrpSpPr>
            <p:grpSpPr bwMode="auto">
              <a:xfrm rot="5400000">
                <a:off x="7826" y="11706"/>
                <a:ext cx="1082" cy="902"/>
                <a:chOff x="5140" y="9900"/>
                <a:chExt cx="902" cy="2160"/>
              </a:xfrm>
            </p:grpSpPr>
            <p:sp>
              <p:nvSpPr>
                <p:cNvPr id="99" name="Arc 24"/>
                <p:cNvSpPr>
                  <a:spLocks/>
                </p:cNvSpPr>
                <p:nvPr/>
              </p:nvSpPr>
              <p:spPr bwMode="auto">
                <a:xfrm>
                  <a:off x="5142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" name="Arc 25"/>
                <p:cNvSpPr>
                  <a:spLocks/>
                </p:cNvSpPr>
                <p:nvPr/>
              </p:nvSpPr>
              <p:spPr bwMode="auto">
                <a:xfrm flipV="1">
                  <a:off x="514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116" name="TextBox 115"/>
            <p:cNvSpPr txBox="1"/>
            <p:nvPr/>
          </p:nvSpPr>
          <p:spPr>
            <a:xfrm>
              <a:off x="2606040" y="2438401"/>
              <a:ext cx="381000" cy="461651"/>
            </a:xfrm>
            <a:prstGeom prst="rect">
              <a:avLst/>
            </a:prstGeom>
            <a:noFill/>
          </p:spPr>
          <p:txBody>
            <a:bodyPr wrap="square" lIns="91425" tIns="45713" rIns="91425" bIns="45713" rtlCol="0">
              <a:spAutoFit/>
            </a:bodyPr>
            <a:lstStyle/>
            <a:p>
              <a:r>
                <a:rPr lang="en-GB" sz="2400" dirty="0">
                  <a:latin typeface="Times New Roman" pitchFamily="18" charset="0"/>
                  <a:cs typeface="Times New Roman" pitchFamily="18" charset="0"/>
                </a:rPr>
                <a:t>B</a:t>
              </a:r>
              <a:endParaRPr lang="en-US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685801" y="2362200"/>
              <a:ext cx="381000" cy="461651"/>
            </a:xfrm>
            <a:prstGeom prst="rect">
              <a:avLst/>
            </a:prstGeom>
            <a:noFill/>
          </p:spPr>
          <p:txBody>
            <a:bodyPr wrap="square" lIns="91425" tIns="45713" rIns="91425" bIns="45713" rtlCol="0">
              <a:spAutoFit/>
            </a:bodyPr>
            <a:lstStyle/>
            <a:p>
              <a:r>
                <a:rPr lang="en-GB" sz="2400" dirty="0">
                  <a:latin typeface="Times New Roman" pitchFamily="18" charset="0"/>
                  <a:cs typeface="Times New Roman" pitchFamily="18" charset="0"/>
                </a:rPr>
                <a:t>K</a:t>
              </a:r>
              <a:endParaRPr lang="en-US" sz="24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119" name="Straight Connector 118"/>
          <p:cNvCxnSpPr/>
          <p:nvPr/>
        </p:nvCxnSpPr>
        <p:spPr>
          <a:xfrm>
            <a:off x="3656646" y="4038602"/>
            <a:ext cx="507868" cy="15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/>
          <p:nvPr/>
        </p:nvCxnSpPr>
        <p:spPr>
          <a:xfrm rot="16200000" flipH="1">
            <a:off x="3738427" y="4207415"/>
            <a:ext cx="324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7699274" y="4236722"/>
            <a:ext cx="3372242" cy="677094"/>
          </a:xfrm>
          <a:prstGeom prst="rect">
            <a:avLst/>
          </a:prstGeom>
          <a:noFill/>
        </p:spPr>
        <p:txBody>
          <a:bodyPr wrap="square" lIns="91425" tIns="45713" rIns="91425" bIns="45713" rtlCol="0">
            <a:spAutoFit/>
          </a:bodyPr>
          <a:lstStyle/>
          <a:p>
            <a:r>
              <a:rPr lang="en-GB" sz="1900" dirty="0">
                <a:latin typeface="Times New Roman" pitchFamily="18" charset="0"/>
                <a:cs typeface="Times New Roman" pitchFamily="18" charset="0"/>
              </a:rPr>
              <a:t>Fig.2 Mechanical Equivalent Network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507868" y="4343402"/>
            <a:ext cx="1117308" cy="384707"/>
          </a:xfrm>
          <a:prstGeom prst="rect">
            <a:avLst/>
          </a:prstGeom>
          <a:noFill/>
        </p:spPr>
        <p:txBody>
          <a:bodyPr wrap="square" lIns="91425" tIns="45713" rIns="91425" bIns="45713" rtlCol="0">
            <a:spAutoFit/>
          </a:bodyPr>
          <a:lstStyle/>
          <a:p>
            <a:r>
              <a:rPr lang="en-GB" sz="1900" dirty="0">
                <a:latin typeface="Times New Roman" pitchFamily="18" charset="0"/>
                <a:cs typeface="Times New Roman" pitchFamily="18" charset="0"/>
              </a:rPr>
              <a:t>Fig. 1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24" name="Object 123"/>
          <p:cNvGraphicFramePr>
            <a:graphicFrameLocks noChangeAspect="1"/>
          </p:cNvGraphicFramePr>
          <p:nvPr/>
        </p:nvGraphicFramePr>
        <p:xfrm>
          <a:off x="3758224" y="4953002"/>
          <a:ext cx="4773956" cy="1066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90640" imgH="533160" progId="Equation.3">
                  <p:embed/>
                </p:oleObj>
              </mc:Choice>
              <mc:Fallback>
                <p:oleObj name="Equation" r:id="rId2" imgW="1790640" imgH="5331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8224" y="4953002"/>
                        <a:ext cx="4773956" cy="10668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8" y="152401"/>
            <a:ext cx="11782531" cy="624840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EXAMPLE 5: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Draw the mechanical equivalent </a:t>
            </a:r>
          </a:p>
          <a:p>
            <a:pPr>
              <a:buNone/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Network  and write the equation fig.(3).</a:t>
            </a:r>
            <a:r>
              <a:rPr lang="en-IN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grpSp>
        <p:nvGrpSpPr>
          <p:cNvPr id="2" name="Group 4"/>
          <p:cNvGrpSpPr/>
          <p:nvPr/>
        </p:nvGrpSpPr>
        <p:grpSpPr>
          <a:xfrm>
            <a:off x="7719591" y="381000"/>
            <a:ext cx="3752862" cy="5169932"/>
            <a:chOff x="5791201" y="381000"/>
            <a:chExt cx="2815380" cy="5169932"/>
          </a:xfrm>
        </p:grpSpPr>
        <p:grpSp>
          <p:nvGrpSpPr>
            <p:cNvPr id="5" name="Group 17"/>
            <p:cNvGrpSpPr/>
            <p:nvPr/>
          </p:nvGrpSpPr>
          <p:grpSpPr>
            <a:xfrm>
              <a:off x="5791201" y="381000"/>
              <a:ext cx="2255854" cy="2133601"/>
              <a:chOff x="914402" y="1900534"/>
              <a:chExt cx="2255854" cy="2133601"/>
            </a:xfrm>
          </p:grpSpPr>
          <p:grpSp>
            <p:nvGrpSpPr>
              <p:cNvPr id="6" name="Group 4"/>
              <p:cNvGrpSpPr/>
              <p:nvPr/>
            </p:nvGrpSpPr>
            <p:grpSpPr>
              <a:xfrm>
                <a:off x="914402" y="1900534"/>
                <a:ext cx="1762126" cy="2133601"/>
                <a:chOff x="5638800" y="2133599"/>
                <a:chExt cx="1762125" cy="2133601"/>
              </a:xfrm>
            </p:grpSpPr>
            <p:sp>
              <p:nvSpPr>
                <p:cNvPr id="78" name="Rectangle 26"/>
                <p:cNvSpPr>
                  <a:spLocks noChangeArrowheads="1"/>
                </p:cNvSpPr>
                <p:nvPr/>
              </p:nvSpPr>
              <p:spPr bwMode="auto">
                <a:xfrm>
                  <a:off x="5791200" y="3581400"/>
                  <a:ext cx="1600200" cy="685800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400" dirty="0">
                      <a:latin typeface="Calibri" pitchFamily="34" charset="0"/>
                      <a:ea typeface="Calibri" pitchFamily="34" charset="0"/>
                      <a:cs typeface="Arial" pitchFamily="34" charset="0"/>
                    </a:rPr>
                    <a:t>        </a:t>
                  </a:r>
                  <a:r>
                    <a:rPr lang="en-US" sz="1800" dirty="0">
                      <a:latin typeface="Times New Roman" pitchFamily="18" charset="0"/>
                      <a:ea typeface="Calibri" pitchFamily="34" charset="0"/>
                      <a:cs typeface="Times New Roman" pitchFamily="18" charset="0"/>
                    </a:rPr>
                    <a:t>M</a:t>
                  </a:r>
                  <a:r>
                    <a:rPr lang="en-US" sz="1800" baseline="-25000" dirty="0">
                      <a:latin typeface="Times New Roman" pitchFamily="18" charset="0"/>
                      <a:ea typeface="Calibri" pitchFamily="34" charset="0"/>
                      <a:cs typeface="Times New Roman" pitchFamily="18" charset="0"/>
                    </a:rPr>
                    <a:t>2</a:t>
                  </a:r>
                  <a:endParaRPr lang="en-US" sz="1800" baseline="-25000" dirty="0">
                    <a:latin typeface="Times New Roman" pitchFamily="18" charset="0"/>
                    <a:cs typeface="Times New Roman" pitchFamily="18" charset="0"/>
                  </a:endParaRPr>
                </a:p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800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7" name="Group 26"/>
                <p:cNvGrpSpPr/>
                <p:nvPr/>
              </p:nvGrpSpPr>
              <p:grpSpPr>
                <a:xfrm>
                  <a:off x="6858000" y="2133600"/>
                  <a:ext cx="462915" cy="1443360"/>
                  <a:chOff x="6858000" y="2133600"/>
                  <a:chExt cx="462915" cy="1443360"/>
                </a:xfrm>
              </p:grpSpPr>
              <p:sp>
                <p:nvSpPr>
                  <p:cNvPr id="81" name="AutoShape 27"/>
                  <p:cNvSpPr>
                    <a:spLocks noChangeShapeType="1"/>
                  </p:cNvSpPr>
                  <p:nvPr/>
                </p:nvSpPr>
                <p:spPr bwMode="auto">
                  <a:xfrm>
                    <a:off x="6858000" y="2590800"/>
                    <a:ext cx="9525" cy="523875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2" name="AutoShape 28"/>
                  <p:cNvSpPr>
                    <a:spLocks noChangeShapeType="1"/>
                  </p:cNvSpPr>
                  <p:nvPr/>
                </p:nvSpPr>
                <p:spPr bwMode="auto">
                  <a:xfrm>
                    <a:off x="6873240" y="3124200"/>
                    <a:ext cx="447675" cy="0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3" name="AutoShape 2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315200" y="2590800"/>
                    <a:ext cx="0" cy="523875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4" name="AutoShape 30"/>
                  <p:cNvSpPr>
                    <a:spLocks noChangeShapeType="1"/>
                  </p:cNvSpPr>
                  <p:nvPr/>
                </p:nvSpPr>
                <p:spPr bwMode="auto">
                  <a:xfrm>
                    <a:off x="6858000" y="2819400"/>
                    <a:ext cx="447675" cy="0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5" name="AutoShape 31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086600" y="2133600"/>
                    <a:ext cx="0" cy="685800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6" name="AutoShape 3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7086599" y="3134160"/>
                    <a:ext cx="0" cy="442800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80" name="AutoShape 33"/>
                <p:cNvSpPr>
                  <a:spLocks noChangeShapeType="1"/>
                </p:cNvSpPr>
                <p:nvPr/>
              </p:nvSpPr>
              <p:spPr bwMode="auto">
                <a:xfrm flipV="1">
                  <a:off x="5638800" y="2133599"/>
                  <a:ext cx="1762125" cy="0"/>
                </a:xfrm>
                <a:prstGeom prst="straightConnector1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2"/>
              <p:cNvGrpSpPr>
                <a:grpSpLocks/>
              </p:cNvGrpSpPr>
              <p:nvPr/>
            </p:nvGrpSpPr>
            <p:grpSpPr bwMode="auto">
              <a:xfrm rot="5400000">
                <a:off x="604038" y="2443155"/>
                <a:ext cx="1456865" cy="380510"/>
                <a:chOff x="1415" y="10440"/>
                <a:chExt cx="10351" cy="2344"/>
              </a:xfrm>
            </p:grpSpPr>
            <p:grpSp>
              <p:nvGrpSpPr>
                <p:cNvPr id="14" name="Group 3"/>
                <p:cNvGrpSpPr>
                  <a:grpSpLocks/>
                </p:cNvGrpSpPr>
                <p:nvPr/>
              </p:nvGrpSpPr>
              <p:grpSpPr bwMode="auto">
                <a:xfrm rot="16200000">
                  <a:off x="3690" y="10164"/>
                  <a:ext cx="1260" cy="1812"/>
                  <a:chOff x="5220" y="9900"/>
                  <a:chExt cx="900" cy="2160"/>
                </a:xfrm>
              </p:grpSpPr>
              <p:sp>
                <p:nvSpPr>
                  <p:cNvPr id="76" name="Arc 4"/>
                  <p:cNvSpPr>
                    <a:spLocks/>
                  </p:cNvSpPr>
                  <p:nvPr/>
                </p:nvSpPr>
                <p:spPr bwMode="auto">
                  <a:xfrm>
                    <a:off x="5220" y="990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77" name="Arc 5"/>
                  <p:cNvSpPr>
                    <a:spLocks/>
                  </p:cNvSpPr>
                  <p:nvPr/>
                </p:nvSpPr>
                <p:spPr bwMode="auto">
                  <a:xfrm flipV="1">
                    <a:off x="5220" y="1098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7" name="Group 6"/>
                <p:cNvGrpSpPr>
                  <a:grpSpLocks/>
                </p:cNvGrpSpPr>
                <p:nvPr/>
              </p:nvGrpSpPr>
              <p:grpSpPr bwMode="auto">
                <a:xfrm rot="16200000">
                  <a:off x="5040" y="9720"/>
                  <a:ext cx="1260" cy="2700"/>
                  <a:chOff x="5220" y="9900"/>
                  <a:chExt cx="900" cy="2160"/>
                </a:xfrm>
              </p:grpSpPr>
              <p:sp>
                <p:nvSpPr>
                  <p:cNvPr id="74" name="Arc 7"/>
                  <p:cNvSpPr>
                    <a:spLocks/>
                  </p:cNvSpPr>
                  <p:nvPr/>
                </p:nvSpPr>
                <p:spPr bwMode="auto">
                  <a:xfrm>
                    <a:off x="5220" y="990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75" name="Arc 8"/>
                  <p:cNvSpPr>
                    <a:spLocks/>
                  </p:cNvSpPr>
                  <p:nvPr/>
                </p:nvSpPr>
                <p:spPr bwMode="auto">
                  <a:xfrm flipV="1">
                    <a:off x="5220" y="1098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8" name="Group 9"/>
                <p:cNvGrpSpPr>
                  <a:grpSpLocks/>
                </p:cNvGrpSpPr>
                <p:nvPr/>
              </p:nvGrpSpPr>
              <p:grpSpPr bwMode="auto">
                <a:xfrm rot="16200000">
                  <a:off x="6840" y="9720"/>
                  <a:ext cx="1260" cy="2700"/>
                  <a:chOff x="5220" y="9900"/>
                  <a:chExt cx="900" cy="2160"/>
                </a:xfrm>
              </p:grpSpPr>
              <p:sp>
                <p:nvSpPr>
                  <p:cNvPr id="72" name="Arc 10"/>
                  <p:cNvSpPr>
                    <a:spLocks/>
                  </p:cNvSpPr>
                  <p:nvPr/>
                </p:nvSpPr>
                <p:spPr bwMode="auto">
                  <a:xfrm>
                    <a:off x="5220" y="990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73" name="Arc 11"/>
                  <p:cNvSpPr>
                    <a:spLocks/>
                  </p:cNvSpPr>
                  <p:nvPr/>
                </p:nvSpPr>
                <p:spPr bwMode="auto">
                  <a:xfrm flipV="1">
                    <a:off x="5220" y="1098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9" name="Group 12"/>
                <p:cNvGrpSpPr>
                  <a:grpSpLocks/>
                </p:cNvGrpSpPr>
                <p:nvPr/>
              </p:nvGrpSpPr>
              <p:grpSpPr bwMode="auto">
                <a:xfrm rot="16200000">
                  <a:off x="8191" y="10169"/>
                  <a:ext cx="1257" cy="1800"/>
                  <a:chOff x="5220" y="9900"/>
                  <a:chExt cx="900" cy="2160"/>
                </a:xfrm>
              </p:grpSpPr>
              <p:sp>
                <p:nvSpPr>
                  <p:cNvPr id="70" name="Arc 13"/>
                  <p:cNvSpPr>
                    <a:spLocks/>
                  </p:cNvSpPr>
                  <p:nvPr/>
                </p:nvSpPr>
                <p:spPr bwMode="auto">
                  <a:xfrm>
                    <a:off x="5220" y="990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71" name="Arc 14"/>
                  <p:cNvSpPr>
                    <a:spLocks/>
                  </p:cNvSpPr>
                  <p:nvPr/>
                </p:nvSpPr>
                <p:spPr bwMode="auto">
                  <a:xfrm flipV="1">
                    <a:off x="5220" y="1098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cxnSp>
              <p:nvCxnSpPr>
                <p:cNvPr id="59" name="AutoShape 15"/>
                <p:cNvCxnSpPr>
                  <a:cxnSpLocks noChangeShapeType="1"/>
                </p:cNvCxnSpPr>
                <p:nvPr/>
              </p:nvCxnSpPr>
              <p:spPr bwMode="auto">
                <a:xfrm flipH="1">
                  <a:off x="1415" y="11704"/>
                  <a:ext cx="2046" cy="0"/>
                </a:xfrm>
                <a:prstGeom prst="straightConnector1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60" name="AutoShape 16"/>
                <p:cNvCxnSpPr>
                  <a:cxnSpLocks noChangeShapeType="1"/>
                </p:cNvCxnSpPr>
                <p:nvPr/>
              </p:nvCxnSpPr>
              <p:spPr bwMode="auto">
                <a:xfrm flipH="1">
                  <a:off x="9720" y="11699"/>
                  <a:ext cx="2046" cy="0"/>
                </a:xfrm>
                <a:prstGeom prst="straightConnector1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grpSp>
              <p:nvGrpSpPr>
                <p:cNvPr id="20" name="Group 17"/>
                <p:cNvGrpSpPr>
                  <a:grpSpLocks/>
                </p:cNvGrpSpPr>
                <p:nvPr/>
              </p:nvGrpSpPr>
              <p:grpSpPr bwMode="auto">
                <a:xfrm rot="5400000">
                  <a:off x="4231" y="11791"/>
                  <a:ext cx="1079" cy="902"/>
                  <a:chOff x="5220" y="9900"/>
                  <a:chExt cx="900" cy="2160"/>
                </a:xfrm>
              </p:grpSpPr>
              <p:sp>
                <p:nvSpPr>
                  <p:cNvPr id="68" name="Arc 18"/>
                  <p:cNvSpPr>
                    <a:spLocks/>
                  </p:cNvSpPr>
                  <p:nvPr/>
                </p:nvSpPr>
                <p:spPr bwMode="auto">
                  <a:xfrm>
                    <a:off x="5220" y="990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9" name="Arc 19"/>
                  <p:cNvSpPr>
                    <a:spLocks/>
                  </p:cNvSpPr>
                  <p:nvPr/>
                </p:nvSpPr>
                <p:spPr bwMode="auto">
                  <a:xfrm flipV="1">
                    <a:off x="5220" y="1098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3" name="Group 20"/>
                <p:cNvGrpSpPr>
                  <a:grpSpLocks/>
                </p:cNvGrpSpPr>
                <p:nvPr/>
              </p:nvGrpSpPr>
              <p:grpSpPr bwMode="auto">
                <a:xfrm rot="5400000">
                  <a:off x="6031" y="11794"/>
                  <a:ext cx="1079" cy="902"/>
                  <a:chOff x="5220" y="9900"/>
                  <a:chExt cx="900" cy="2160"/>
                </a:xfrm>
              </p:grpSpPr>
              <p:sp>
                <p:nvSpPr>
                  <p:cNvPr id="66" name="Arc 21"/>
                  <p:cNvSpPr>
                    <a:spLocks/>
                  </p:cNvSpPr>
                  <p:nvPr/>
                </p:nvSpPr>
                <p:spPr bwMode="auto">
                  <a:xfrm>
                    <a:off x="5220" y="990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7" name="Arc 22"/>
                  <p:cNvSpPr>
                    <a:spLocks/>
                  </p:cNvSpPr>
                  <p:nvPr/>
                </p:nvSpPr>
                <p:spPr bwMode="auto">
                  <a:xfrm flipV="1">
                    <a:off x="5220" y="1098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" name="Group 23"/>
                <p:cNvGrpSpPr>
                  <a:grpSpLocks/>
                </p:cNvGrpSpPr>
                <p:nvPr/>
              </p:nvGrpSpPr>
              <p:grpSpPr bwMode="auto">
                <a:xfrm rot="5400000">
                  <a:off x="7830" y="11706"/>
                  <a:ext cx="1082" cy="902"/>
                  <a:chOff x="5140" y="9900"/>
                  <a:chExt cx="902" cy="2160"/>
                </a:xfrm>
              </p:grpSpPr>
              <p:sp>
                <p:nvSpPr>
                  <p:cNvPr id="64" name="Arc 24"/>
                  <p:cNvSpPr>
                    <a:spLocks/>
                  </p:cNvSpPr>
                  <p:nvPr/>
                </p:nvSpPr>
                <p:spPr bwMode="auto">
                  <a:xfrm>
                    <a:off x="5142" y="990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5" name="Arc 25"/>
                  <p:cNvSpPr>
                    <a:spLocks/>
                  </p:cNvSpPr>
                  <p:nvPr/>
                </p:nvSpPr>
                <p:spPr bwMode="auto">
                  <a:xfrm flipV="1">
                    <a:off x="5140" y="1098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53" name="TextBox 20"/>
              <p:cNvSpPr txBox="1"/>
              <p:nvPr/>
            </p:nvSpPr>
            <p:spPr>
              <a:xfrm>
                <a:off x="2575895" y="2488641"/>
                <a:ext cx="594361" cy="369318"/>
              </a:xfrm>
              <a:prstGeom prst="rect">
                <a:avLst/>
              </a:prstGeom>
              <a:noFill/>
            </p:spPr>
            <p:txBody>
              <a:bodyPr wrap="square" lIns="91425" tIns="45713" rIns="91425" bIns="45713" rtlCol="0">
                <a:spAutoFit/>
              </a:bodyPr>
              <a:lstStyle/>
              <a:p>
                <a:r>
                  <a:rPr lang="en-GB" sz="1800" dirty="0">
                    <a:latin typeface="Times New Roman" pitchFamily="18" charset="0"/>
                    <a:cs typeface="Times New Roman" pitchFamily="18" charset="0"/>
                  </a:rPr>
                  <a:t>B</a:t>
                </a:r>
                <a:r>
                  <a:rPr lang="en-GB" sz="18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180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TextBox 21"/>
              <p:cNvSpPr txBox="1"/>
              <p:nvPr/>
            </p:nvSpPr>
            <p:spPr>
              <a:xfrm>
                <a:off x="1502401" y="2469934"/>
                <a:ext cx="685800" cy="369318"/>
              </a:xfrm>
              <a:prstGeom prst="rect">
                <a:avLst/>
              </a:prstGeom>
              <a:noFill/>
            </p:spPr>
            <p:txBody>
              <a:bodyPr wrap="square" lIns="91425" tIns="45713" rIns="91425" bIns="45713" rtlCol="0">
                <a:spAutoFit/>
              </a:bodyPr>
              <a:lstStyle/>
              <a:p>
                <a:r>
                  <a:rPr lang="en-GB" sz="1800" dirty="0"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GB" sz="18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180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pSp>
          <p:nvGrpSpPr>
            <p:cNvPr id="25" name="Group 57"/>
            <p:cNvGrpSpPr/>
            <p:nvPr/>
          </p:nvGrpSpPr>
          <p:grpSpPr>
            <a:xfrm>
              <a:off x="5950082" y="2514600"/>
              <a:ext cx="2594049" cy="3036332"/>
              <a:chOff x="1066803" y="1900535"/>
              <a:chExt cx="2594049" cy="3036332"/>
            </a:xfrm>
          </p:grpSpPr>
          <p:grpSp>
            <p:nvGrpSpPr>
              <p:cNvPr id="227" name="Group 4"/>
              <p:cNvGrpSpPr/>
              <p:nvPr/>
            </p:nvGrpSpPr>
            <p:grpSpPr>
              <a:xfrm>
                <a:off x="1066803" y="1900535"/>
                <a:ext cx="2594049" cy="3036332"/>
                <a:chOff x="5791200" y="2133600"/>
                <a:chExt cx="2594047" cy="3036332"/>
              </a:xfrm>
            </p:grpSpPr>
            <p:sp>
              <p:nvSpPr>
                <p:cNvPr id="40" name="Rectangle 26"/>
                <p:cNvSpPr>
                  <a:spLocks noChangeArrowheads="1"/>
                </p:cNvSpPr>
                <p:nvPr/>
              </p:nvSpPr>
              <p:spPr bwMode="auto">
                <a:xfrm>
                  <a:off x="5791200" y="3581400"/>
                  <a:ext cx="1600200" cy="685800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400" dirty="0">
                      <a:latin typeface="Calibri" pitchFamily="34" charset="0"/>
                      <a:ea typeface="Calibri" pitchFamily="34" charset="0"/>
                      <a:cs typeface="Arial" pitchFamily="34" charset="0"/>
                    </a:rPr>
                    <a:t>        </a:t>
                  </a:r>
                  <a:r>
                    <a:rPr lang="en-US" sz="1800" dirty="0">
                      <a:latin typeface="Times New Roman" pitchFamily="18" charset="0"/>
                      <a:ea typeface="Calibri" pitchFamily="34" charset="0"/>
                      <a:cs typeface="Times New Roman" pitchFamily="18" charset="0"/>
                    </a:rPr>
                    <a:t>M</a:t>
                  </a:r>
                  <a:r>
                    <a:rPr lang="en-US" sz="1800" baseline="-25000" dirty="0">
                      <a:latin typeface="Times New Roman" pitchFamily="18" charset="0"/>
                      <a:ea typeface="Calibri" pitchFamily="34" charset="0"/>
                      <a:cs typeface="Times New Roman" pitchFamily="18" charset="0"/>
                    </a:rPr>
                    <a:t>1</a:t>
                  </a:r>
                  <a:endParaRPr lang="en-US" sz="1800" baseline="-25000" dirty="0">
                    <a:latin typeface="Times New Roman" pitchFamily="18" charset="0"/>
                    <a:cs typeface="Times New Roman" pitchFamily="18" charset="0"/>
                  </a:endParaRPr>
                </a:p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229" name="Group 26"/>
                <p:cNvGrpSpPr/>
                <p:nvPr/>
              </p:nvGrpSpPr>
              <p:grpSpPr>
                <a:xfrm>
                  <a:off x="6858000" y="2133600"/>
                  <a:ext cx="462915" cy="1443360"/>
                  <a:chOff x="6858000" y="2133600"/>
                  <a:chExt cx="462915" cy="1443360"/>
                </a:xfrm>
              </p:grpSpPr>
              <p:sp>
                <p:nvSpPr>
                  <p:cNvPr id="45" name="AutoShape 27"/>
                  <p:cNvSpPr>
                    <a:spLocks noChangeShapeType="1"/>
                  </p:cNvSpPr>
                  <p:nvPr/>
                </p:nvSpPr>
                <p:spPr bwMode="auto">
                  <a:xfrm>
                    <a:off x="6858000" y="2590800"/>
                    <a:ext cx="9525" cy="523875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6" name="AutoShape 28"/>
                  <p:cNvSpPr>
                    <a:spLocks noChangeShapeType="1"/>
                  </p:cNvSpPr>
                  <p:nvPr/>
                </p:nvSpPr>
                <p:spPr bwMode="auto">
                  <a:xfrm>
                    <a:off x="6873240" y="3124200"/>
                    <a:ext cx="447675" cy="0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7" name="AutoShape 2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315200" y="2590800"/>
                    <a:ext cx="0" cy="523875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8" name="AutoShape 30"/>
                  <p:cNvSpPr>
                    <a:spLocks noChangeShapeType="1"/>
                  </p:cNvSpPr>
                  <p:nvPr/>
                </p:nvSpPr>
                <p:spPr bwMode="auto">
                  <a:xfrm>
                    <a:off x="6858000" y="2819400"/>
                    <a:ext cx="447675" cy="0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9" name="AutoShape 31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7086600" y="2133600"/>
                    <a:ext cx="0" cy="685800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0" name="AutoShape 3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7086599" y="3134160"/>
                    <a:ext cx="0" cy="442800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42" name="AutoShape 35"/>
                <p:cNvSpPr>
                  <a:spLocks noChangeShapeType="1"/>
                </p:cNvSpPr>
                <p:nvPr/>
              </p:nvSpPr>
              <p:spPr bwMode="auto">
                <a:xfrm flipH="1">
                  <a:off x="6598919" y="4267200"/>
                  <a:ext cx="0" cy="548640"/>
                </a:xfrm>
                <a:prstGeom prst="straightConnector1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" name="Rectangle 42"/>
                <p:cNvSpPr/>
                <p:nvPr/>
              </p:nvSpPr>
              <p:spPr>
                <a:xfrm>
                  <a:off x="6318116" y="4800600"/>
                  <a:ext cx="838201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1800" dirty="0">
                      <a:latin typeface="Times New Roman" pitchFamily="18" charset="0"/>
                      <a:ea typeface="Calibri" pitchFamily="34" charset="0"/>
                      <a:cs typeface="Times New Roman" pitchFamily="18" charset="0"/>
                    </a:rPr>
                    <a:t> F(t)</a:t>
                  </a:r>
                  <a:endParaRPr lang="en-US" sz="18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44" name="Rectangle 43"/>
                <p:cNvSpPr/>
                <p:nvPr/>
              </p:nvSpPr>
              <p:spPr>
                <a:xfrm>
                  <a:off x="7551066" y="4587239"/>
                  <a:ext cx="834181" cy="3385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1600" dirty="0">
                      <a:latin typeface="Times New Roman" pitchFamily="18" charset="0"/>
                      <a:cs typeface="Times New Roman" pitchFamily="18" charset="0"/>
                    </a:rPr>
                    <a:t>X</a:t>
                  </a:r>
                  <a:r>
                    <a:rPr lang="en-US" sz="1600" baseline="-25000" dirty="0">
                      <a:latin typeface="Times New Roman" pitchFamily="18" charset="0"/>
                      <a:cs typeface="Times New Roman" pitchFamily="18" charset="0"/>
                    </a:rPr>
                    <a:t>1</a:t>
                  </a:r>
                  <a:r>
                    <a:rPr lang="en-US" sz="1600" dirty="0">
                      <a:latin typeface="Times New Roman" pitchFamily="18" charset="0"/>
                      <a:cs typeface="Times New Roman" pitchFamily="18" charset="0"/>
                    </a:rPr>
                    <a:t>(t)</a:t>
                  </a:r>
                </a:p>
              </p:txBody>
            </p:sp>
          </p:grpSp>
          <p:grpSp>
            <p:nvGrpSpPr>
              <p:cNvPr id="240" name="Group 2"/>
              <p:cNvGrpSpPr>
                <a:grpSpLocks/>
              </p:cNvGrpSpPr>
              <p:nvPr/>
            </p:nvGrpSpPr>
            <p:grpSpPr bwMode="auto">
              <a:xfrm rot="5400000">
                <a:off x="604038" y="2443155"/>
                <a:ext cx="1456865" cy="380510"/>
                <a:chOff x="1415" y="10440"/>
                <a:chExt cx="10351" cy="2344"/>
              </a:xfrm>
            </p:grpSpPr>
            <p:grpSp>
              <p:nvGrpSpPr>
                <p:cNvPr id="243" name="Group 3"/>
                <p:cNvGrpSpPr>
                  <a:grpSpLocks/>
                </p:cNvGrpSpPr>
                <p:nvPr/>
              </p:nvGrpSpPr>
              <p:grpSpPr bwMode="auto">
                <a:xfrm rot="16200000">
                  <a:off x="3690" y="10164"/>
                  <a:ext cx="1260" cy="1812"/>
                  <a:chOff x="5220" y="9900"/>
                  <a:chExt cx="900" cy="2160"/>
                </a:xfrm>
              </p:grpSpPr>
              <p:sp>
                <p:nvSpPr>
                  <p:cNvPr id="38" name="Arc 4"/>
                  <p:cNvSpPr>
                    <a:spLocks/>
                  </p:cNvSpPr>
                  <p:nvPr/>
                </p:nvSpPr>
                <p:spPr bwMode="auto">
                  <a:xfrm>
                    <a:off x="5220" y="990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9" name="Arc 5"/>
                  <p:cNvSpPr>
                    <a:spLocks/>
                  </p:cNvSpPr>
                  <p:nvPr/>
                </p:nvSpPr>
                <p:spPr bwMode="auto">
                  <a:xfrm flipV="1">
                    <a:off x="5220" y="1098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4" name="Group 6"/>
                <p:cNvGrpSpPr>
                  <a:grpSpLocks/>
                </p:cNvGrpSpPr>
                <p:nvPr/>
              </p:nvGrpSpPr>
              <p:grpSpPr bwMode="auto">
                <a:xfrm rot="16200000">
                  <a:off x="5040" y="9720"/>
                  <a:ext cx="1260" cy="2700"/>
                  <a:chOff x="5220" y="9900"/>
                  <a:chExt cx="900" cy="2160"/>
                </a:xfrm>
              </p:grpSpPr>
              <p:sp>
                <p:nvSpPr>
                  <p:cNvPr id="36" name="Arc 7"/>
                  <p:cNvSpPr>
                    <a:spLocks/>
                  </p:cNvSpPr>
                  <p:nvPr/>
                </p:nvSpPr>
                <p:spPr bwMode="auto">
                  <a:xfrm>
                    <a:off x="5220" y="990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7" name="Arc 8"/>
                  <p:cNvSpPr>
                    <a:spLocks/>
                  </p:cNvSpPr>
                  <p:nvPr/>
                </p:nvSpPr>
                <p:spPr bwMode="auto">
                  <a:xfrm flipV="1">
                    <a:off x="5220" y="1098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5" name="Group 9"/>
                <p:cNvGrpSpPr>
                  <a:grpSpLocks/>
                </p:cNvGrpSpPr>
                <p:nvPr/>
              </p:nvGrpSpPr>
              <p:grpSpPr bwMode="auto">
                <a:xfrm rot="16200000">
                  <a:off x="6840" y="9720"/>
                  <a:ext cx="1260" cy="2700"/>
                  <a:chOff x="5220" y="9900"/>
                  <a:chExt cx="900" cy="2160"/>
                </a:xfrm>
              </p:grpSpPr>
              <p:sp>
                <p:nvSpPr>
                  <p:cNvPr id="34" name="Arc 10"/>
                  <p:cNvSpPr>
                    <a:spLocks/>
                  </p:cNvSpPr>
                  <p:nvPr/>
                </p:nvSpPr>
                <p:spPr bwMode="auto">
                  <a:xfrm>
                    <a:off x="5220" y="990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5" name="Arc 11"/>
                  <p:cNvSpPr>
                    <a:spLocks/>
                  </p:cNvSpPr>
                  <p:nvPr/>
                </p:nvSpPr>
                <p:spPr bwMode="auto">
                  <a:xfrm flipV="1">
                    <a:off x="5220" y="1098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6" name="Group 12"/>
                <p:cNvGrpSpPr>
                  <a:grpSpLocks/>
                </p:cNvGrpSpPr>
                <p:nvPr/>
              </p:nvGrpSpPr>
              <p:grpSpPr bwMode="auto">
                <a:xfrm rot="16200000">
                  <a:off x="8191" y="10169"/>
                  <a:ext cx="1257" cy="1800"/>
                  <a:chOff x="5220" y="9900"/>
                  <a:chExt cx="900" cy="2160"/>
                </a:xfrm>
              </p:grpSpPr>
              <p:sp>
                <p:nvSpPr>
                  <p:cNvPr id="32" name="Arc 13"/>
                  <p:cNvSpPr>
                    <a:spLocks/>
                  </p:cNvSpPr>
                  <p:nvPr/>
                </p:nvSpPr>
                <p:spPr bwMode="auto">
                  <a:xfrm>
                    <a:off x="5220" y="990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3" name="Arc 14"/>
                  <p:cNvSpPr>
                    <a:spLocks/>
                  </p:cNvSpPr>
                  <p:nvPr/>
                </p:nvSpPr>
                <p:spPr bwMode="auto">
                  <a:xfrm flipV="1">
                    <a:off x="5220" y="1098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cxnSp>
              <p:nvCxnSpPr>
                <p:cNvPr id="21" name="AutoShape 15"/>
                <p:cNvCxnSpPr>
                  <a:cxnSpLocks noChangeShapeType="1"/>
                </p:cNvCxnSpPr>
                <p:nvPr/>
              </p:nvCxnSpPr>
              <p:spPr bwMode="auto">
                <a:xfrm flipH="1">
                  <a:off x="1415" y="11704"/>
                  <a:ext cx="2046" cy="0"/>
                </a:xfrm>
                <a:prstGeom prst="straightConnector1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22" name="AutoShape 16"/>
                <p:cNvCxnSpPr>
                  <a:cxnSpLocks noChangeShapeType="1"/>
                </p:cNvCxnSpPr>
                <p:nvPr/>
              </p:nvCxnSpPr>
              <p:spPr bwMode="auto">
                <a:xfrm flipH="1">
                  <a:off x="9720" y="11699"/>
                  <a:ext cx="2046" cy="0"/>
                </a:xfrm>
                <a:prstGeom prst="straightConnector1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grpSp>
              <p:nvGrpSpPr>
                <p:cNvPr id="247" name="Group 17"/>
                <p:cNvGrpSpPr>
                  <a:grpSpLocks/>
                </p:cNvGrpSpPr>
                <p:nvPr/>
              </p:nvGrpSpPr>
              <p:grpSpPr bwMode="auto">
                <a:xfrm rot="5400000">
                  <a:off x="4231" y="11791"/>
                  <a:ext cx="1079" cy="902"/>
                  <a:chOff x="5220" y="9900"/>
                  <a:chExt cx="900" cy="2160"/>
                </a:xfrm>
              </p:grpSpPr>
              <p:sp>
                <p:nvSpPr>
                  <p:cNvPr id="30" name="Arc 18"/>
                  <p:cNvSpPr>
                    <a:spLocks/>
                  </p:cNvSpPr>
                  <p:nvPr/>
                </p:nvSpPr>
                <p:spPr bwMode="auto">
                  <a:xfrm>
                    <a:off x="5220" y="990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31" name="Arc 19"/>
                  <p:cNvSpPr>
                    <a:spLocks/>
                  </p:cNvSpPr>
                  <p:nvPr/>
                </p:nvSpPr>
                <p:spPr bwMode="auto">
                  <a:xfrm flipV="1">
                    <a:off x="5220" y="1098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8" name="Group 23"/>
                <p:cNvGrpSpPr>
                  <a:grpSpLocks/>
                </p:cNvGrpSpPr>
                <p:nvPr/>
              </p:nvGrpSpPr>
              <p:grpSpPr bwMode="auto">
                <a:xfrm rot="5400000">
                  <a:off x="6031" y="11794"/>
                  <a:ext cx="1079" cy="902"/>
                  <a:chOff x="5220" y="9900"/>
                  <a:chExt cx="900" cy="2160"/>
                </a:xfrm>
              </p:grpSpPr>
              <p:sp>
                <p:nvSpPr>
                  <p:cNvPr id="28" name="Arc 21"/>
                  <p:cNvSpPr>
                    <a:spLocks/>
                  </p:cNvSpPr>
                  <p:nvPr/>
                </p:nvSpPr>
                <p:spPr bwMode="auto">
                  <a:xfrm>
                    <a:off x="5220" y="990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9" name="Arc 22"/>
                  <p:cNvSpPr>
                    <a:spLocks/>
                  </p:cNvSpPr>
                  <p:nvPr/>
                </p:nvSpPr>
                <p:spPr bwMode="auto">
                  <a:xfrm flipV="1">
                    <a:off x="5220" y="1098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9" name="Group 23"/>
                <p:cNvGrpSpPr>
                  <a:grpSpLocks/>
                </p:cNvGrpSpPr>
                <p:nvPr/>
              </p:nvGrpSpPr>
              <p:grpSpPr bwMode="auto">
                <a:xfrm rot="5400000">
                  <a:off x="7830" y="11706"/>
                  <a:ext cx="1082" cy="902"/>
                  <a:chOff x="5140" y="9900"/>
                  <a:chExt cx="902" cy="2160"/>
                </a:xfrm>
              </p:grpSpPr>
              <p:sp>
                <p:nvSpPr>
                  <p:cNvPr id="26" name="Arc 24"/>
                  <p:cNvSpPr>
                    <a:spLocks/>
                  </p:cNvSpPr>
                  <p:nvPr/>
                </p:nvSpPr>
                <p:spPr bwMode="auto">
                  <a:xfrm>
                    <a:off x="5142" y="990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7" name="Arc 25"/>
                  <p:cNvSpPr>
                    <a:spLocks/>
                  </p:cNvSpPr>
                  <p:nvPr/>
                </p:nvSpPr>
                <p:spPr bwMode="auto">
                  <a:xfrm flipV="1">
                    <a:off x="5140" y="10980"/>
                    <a:ext cx="900" cy="1080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5" name="TextBox 14"/>
              <p:cNvSpPr txBox="1"/>
              <p:nvPr/>
            </p:nvSpPr>
            <p:spPr>
              <a:xfrm>
                <a:off x="2606039" y="2528833"/>
                <a:ext cx="511682" cy="369318"/>
              </a:xfrm>
              <a:prstGeom prst="rect">
                <a:avLst/>
              </a:prstGeom>
              <a:noFill/>
            </p:spPr>
            <p:txBody>
              <a:bodyPr wrap="square" lIns="91425" tIns="45713" rIns="91425" bIns="45713" rtlCol="0">
                <a:spAutoFit/>
              </a:bodyPr>
              <a:lstStyle/>
              <a:p>
                <a:r>
                  <a:rPr lang="en-GB" sz="1800" dirty="0">
                    <a:latin typeface="Times New Roman" pitchFamily="18" charset="0"/>
                    <a:cs typeface="Times New Roman" pitchFamily="18" charset="0"/>
                  </a:rPr>
                  <a:t>B</a:t>
                </a:r>
                <a:r>
                  <a:rPr lang="en-GB" sz="18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en-US" sz="180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1517521" y="2510135"/>
                <a:ext cx="533400" cy="369318"/>
              </a:xfrm>
              <a:prstGeom prst="rect">
                <a:avLst/>
              </a:prstGeom>
              <a:noFill/>
            </p:spPr>
            <p:txBody>
              <a:bodyPr wrap="square" lIns="91425" tIns="45713" rIns="91425" bIns="45713" rtlCol="0">
                <a:spAutoFit/>
              </a:bodyPr>
              <a:lstStyle/>
              <a:p>
                <a:r>
                  <a:rPr lang="en-GB" sz="1800" dirty="0"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GB" sz="18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en-US" sz="180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8" name="Rectangle 7"/>
            <p:cNvSpPr/>
            <p:nvPr/>
          </p:nvSpPr>
          <p:spPr>
            <a:xfrm>
              <a:off x="7772400" y="2819400"/>
              <a:ext cx="834181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1600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1600" dirty="0">
                  <a:latin typeface="Times New Roman" pitchFamily="18" charset="0"/>
                  <a:cs typeface="Times New Roman" pitchFamily="18" charset="0"/>
                </a:rPr>
                <a:t>(t)</a:t>
              </a: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7696200" y="2514600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rot="5400000">
              <a:off x="7810500" y="2705100"/>
              <a:ext cx="38100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7696200" y="4590662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rot="5400000">
              <a:off x="7810500" y="4781162"/>
              <a:ext cx="38100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" name="Straight Connector 87"/>
          <p:cNvCxnSpPr/>
          <p:nvPr/>
        </p:nvCxnSpPr>
        <p:spPr>
          <a:xfrm>
            <a:off x="1153012" y="4953000"/>
            <a:ext cx="5789692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26"/>
          <p:cNvSpPr>
            <a:spLocks noChangeArrowheads="1"/>
          </p:cNvSpPr>
          <p:nvPr/>
        </p:nvSpPr>
        <p:spPr bwMode="auto">
          <a:xfrm>
            <a:off x="4672383" y="3048000"/>
            <a:ext cx="914161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900" baseline="-25000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94" name="Straight Connector 93"/>
          <p:cNvCxnSpPr/>
          <p:nvPr/>
        </p:nvCxnSpPr>
        <p:spPr>
          <a:xfrm rot="5400000">
            <a:off x="4543863" y="4343400"/>
            <a:ext cx="1219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697621" y="3063912"/>
            <a:ext cx="914162" cy="685800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6" name="Straight Connector 95"/>
          <p:cNvCxnSpPr/>
          <p:nvPr/>
        </p:nvCxnSpPr>
        <p:spPr>
          <a:xfrm rot="5400000">
            <a:off x="555707" y="4345080"/>
            <a:ext cx="1219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/>
          <p:nvPr/>
        </p:nvCxnSpPr>
        <p:spPr>
          <a:xfrm rot="5400000" flipH="1" flipV="1">
            <a:off x="915497" y="3392728"/>
            <a:ext cx="457200" cy="2117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0" name="Group 239"/>
          <p:cNvGrpSpPr/>
          <p:nvPr/>
        </p:nvGrpSpPr>
        <p:grpSpPr>
          <a:xfrm>
            <a:off x="1958245" y="1828800"/>
            <a:ext cx="914161" cy="3124200"/>
            <a:chOff x="1447800" y="1828800"/>
            <a:chExt cx="685799" cy="3124200"/>
          </a:xfrm>
        </p:grpSpPr>
        <p:sp>
          <p:nvSpPr>
            <p:cNvPr id="89" name="Rectangle 26"/>
            <p:cNvSpPr>
              <a:spLocks noChangeArrowheads="1"/>
            </p:cNvSpPr>
            <p:nvPr/>
          </p:nvSpPr>
          <p:spPr bwMode="auto">
            <a:xfrm>
              <a:off x="1447800" y="3048000"/>
              <a:ext cx="685799" cy="685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900" baseline="-25000" dirty="0">
                <a:latin typeface="Arial" pitchFamily="34" charset="0"/>
                <a:cs typeface="Arial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 rot="5400000">
              <a:off x="1201196" y="4343400"/>
              <a:ext cx="12192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 rot="5400000">
              <a:off x="1189056" y="2438400"/>
              <a:ext cx="12192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0" name="Straight Connector 99"/>
          <p:cNvCxnSpPr/>
          <p:nvPr/>
        </p:nvCxnSpPr>
        <p:spPr>
          <a:xfrm rot="5400000">
            <a:off x="4536046" y="2438400"/>
            <a:ext cx="1219200" cy="0"/>
          </a:xfrm>
          <a:prstGeom prst="line">
            <a:avLst/>
          </a:prstGeom>
          <a:ln w="2540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 rot="5400000">
            <a:off x="561284" y="2438400"/>
            <a:ext cx="1219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1" name="Group 221"/>
          <p:cNvGrpSpPr/>
          <p:nvPr/>
        </p:nvGrpSpPr>
        <p:grpSpPr>
          <a:xfrm>
            <a:off x="2809456" y="1250480"/>
            <a:ext cx="1941978" cy="1141864"/>
            <a:chOff x="2057400" y="1295400"/>
            <a:chExt cx="1456863" cy="1141864"/>
          </a:xfrm>
        </p:grpSpPr>
        <p:grpSp>
          <p:nvGrpSpPr>
            <p:cNvPr id="252" name="Group 2"/>
            <p:cNvGrpSpPr>
              <a:grpSpLocks/>
            </p:cNvGrpSpPr>
            <p:nvPr/>
          </p:nvGrpSpPr>
          <p:grpSpPr bwMode="auto">
            <a:xfrm>
              <a:off x="2057400" y="2057400"/>
              <a:ext cx="1456863" cy="379864"/>
              <a:chOff x="1415" y="10440"/>
              <a:chExt cx="10351" cy="2340"/>
            </a:xfrm>
          </p:grpSpPr>
          <p:grpSp>
            <p:nvGrpSpPr>
              <p:cNvPr id="253" name="Group 3"/>
              <p:cNvGrpSpPr>
                <a:grpSpLocks/>
              </p:cNvGrpSpPr>
              <p:nvPr/>
            </p:nvGrpSpPr>
            <p:grpSpPr bwMode="auto">
              <a:xfrm rot="16200000">
                <a:off x="3690" y="10164"/>
                <a:ext cx="1260" cy="1812"/>
                <a:chOff x="5220" y="9900"/>
                <a:chExt cx="900" cy="2160"/>
              </a:xfrm>
            </p:grpSpPr>
            <p:sp>
              <p:nvSpPr>
                <p:cNvPr id="124" name="Arc 4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" name="Arc 5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54" name="Group 6"/>
              <p:cNvGrpSpPr>
                <a:grpSpLocks/>
              </p:cNvGrpSpPr>
              <p:nvPr/>
            </p:nvGrpSpPr>
            <p:grpSpPr bwMode="auto">
              <a:xfrm rot="16200000">
                <a:off x="5040" y="9720"/>
                <a:ext cx="1260" cy="2700"/>
                <a:chOff x="5220" y="9900"/>
                <a:chExt cx="900" cy="2160"/>
              </a:xfrm>
            </p:grpSpPr>
            <p:sp>
              <p:nvSpPr>
                <p:cNvPr id="122" name="Arc 7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3" name="Arc 8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55" name="Group 9"/>
              <p:cNvGrpSpPr>
                <a:grpSpLocks/>
              </p:cNvGrpSpPr>
              <p:nvPr/>
            </p:nvGrpSpPr>
            <p:grpSpPr bwMode="auto">
              <a:xfrm rot="16200000">
                <a:off x="6840" y="9720"/>
                <a:ext cx="1260" cy="2700"/>
                <a:chOff x="5220" y="9900"/>
                <a:chExt cx="900" cy="2160"/>
              </a:xfrm>
            </p:grpSpPr>
            <p:sp>
              <p:nvSpPr>
                <p:cNvPr id="120" name="Arc 10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" name="Arc 11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1" name="Group 12"/>
              <p:cNvGrpSpPr>
                <a:grpSpLocks/>
              </p:cNvGrpSpPr>
              <p:nvPr/>
            </p:nvGrpSpPr>
            <p:grpSpPr bwMode="auto">
              <a:xfrm rot="16200000">
                <a:off x="8191" y="10169"/>
                <a:ext cx="1257" cy="1800"/>
                <a:chOff x="5220" y="9900"/>
                <a:chExt cx="900" cy="2160"/>
              </a:xfrm>
            </p:grpSpPr>
            <p:sp>
              <p:nvSpPr>
                <p:cNvPr id="118" name="Arc 13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" name="Arc 14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cxnSp>
            <p:nvCxnSpPr>
              <p:cNvPr id="107" name="AutoShape 15"/>
              <p:cNvCxnSpPr>
                <a:cxnSpLocks noChangeShapeType="1"/>
              </p:cNvCxnSpPr>
              <p:nvPr/>
            </p:nvCxnSpPr>
            <p:spPr bwMode="auto">
              <a:xfrm flipH="1">
                <a:off x="1415" y="11704"/>
                <a:ext cx="2046" cy="0"/>
              </a:xfrm>
              <a:prstGeom prst="straightConnector1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08" name="AutoShape 16"/>
              <p:cNvCxnSpPr>
                <a:cxnSpLocks noChangeShapeType="1"/>
              </p:cNvCxnSpPr>
              <p:nvPr/>
            </p:nvCxnSpPr>
            <p:spPr bwMode="auto">
              <a:xfrm flipH="1">
                <a:off x="9720" y="11699"/>
                <a:ext cx="2046" cy="0"/>
              </a:xfrm>
              <a:prstGeom prst="straightConnector1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</p:cxnSp>
          <p:grpSp>
            <p:nvGrpSpPr>
              <p:cNvPr id="51" name="Group 17"/>
              <p:cNvGrpSpPr>
                <a:grpSpLocks/>
              </p:cNvGrpSpPr>
              <p:nvPr/>
            </p:nvGrpSpPr>
            <p:grpSpPr bwMode="auto">
              <a:xfrm rot="5400000">
                <a:off x="4229" y="11789"/>
                <a:ext cx="1079" cy="902"/>
                <a:chOff x="5220" y="9900"/>
                <a:chExt cx="900" cy="2160"/>
              </a:xfrm>
            </p:grpSpPr>
            <p:sp>
              <p:nvSpPr>
                <p:cNvPr id="116" name="Arc 18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" name="Arc 19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2" name="Group 20"/>
              <p:cNvGrpSpPr>
                <a:grpSpLocks/>
              </p:cNvGrpSpPr>
              <p:nvPr/>
            </p:nvGrpSpPr>
            <p:grpSpPr bwMode="auto">
              <a:xfrm rot="5400000">
                <a:off x="6029" y="11792"/>
                <a:ext cx="1079" cy="902"/>
                <a:chOff x="5220" y="9900"/>
                <a:chExt cx="900" cy="2160"/>
              </a:xfrm>
            </p:grpSpPr>
            <p:sp>
              <p:nvSpPr>
                <p:cNvPr id="114" name="Arc 21"/>
                <p:cNvSpPr>
                  <a:spLocks/>
                </p:cNvSpPr>
                <p:nvPr/>
              </p:nvSpPr>
              <p:spPr bwMode="auto">
                <a:xfrm>
                  <a:off x="5220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5" name="Arc 22"/>
                <p:cNvSpPr>
                  <a:spLocks/>
                </p:cNvSpPr>
                <p:nvPr/>
              </p:nvSpPr>
              <p:spPr bwMode="auto">
                <a:xfrm flipV="1">
                  <a:off x="522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5" name="Group 23"/>
              <p:cNvGrpSpPr>
                <a:grpSpLocks/>
              </p:cNvGrpSpPr>
              <p:nvPr/>
            </p:nvGrpSpPr>
            <p:grpSpPr bwMode="auto">
              <a:xfrm rot="5400000">
                <a:off x="7828" y="11706"/>
                <a:ext cx="1082" cy="902"/>
                <a:chOff x="5140" y="9900"/>
                <a:chExt cx="902" cy="2160"/>
              </a:xfrm>
            </p:grpSpPr>
            <p:sp>
              <p:nvSpPr>
                <p:cNvPr id="112" name="Arc 24"/>
                <p:cNvSpPr>
                  <a:spLocks/>
                </p:cNvSpPr>
                <p:nvPr/>
              </p:nvSpPr>
              <p:spPr bwMode="auto">
                <a:xfrm>
                  <a:off x="5142" y="990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3" name="Arc 25"/>
                <p:cNvSpPr>
                  <a:spLocks/>
                </p:cNvSpPr>
                <p:nvPr/>
              </p:nvSpPr>
              <p:spPr bwMode="auto">
                <a:xfrm flipV="1">
                  <a:off x="5140" y="10980"/>
                  <a:ext cx="900" cy="10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56" name="Group 156"/>
            <p:cNvGrpSpPr/>
            <p:nvPr/>
          </p:nvGrpSpPr>
          <p:grpSpPr>
            <a:xfrm rot="16200000">
              <a:off x="2552062" y="805178"/>
              <a:ext cx="462915" cy="1443360"/>
              <a:chOff x="2133600" y="1905000"/>
              <a:chExt cx="462915" cy="1443360"/>
            </a:xfrm>
          </p:grpSpPr>
          <p:sp>
            <p:nvSpPr>
              <p:cNvPr id="158" name="AutoShape 27"/>
              <p:cNvSpPr>
                <a:spLocks noChangeShapeType="1"/>
              </p:cNvSpPr>
              <p:nvPr/>
            </p:nvSpPr>
            <p:spPr bwMode="auto">
              <a:xfrm>
                <a:off x="2133600" y="2362200"/>
                <a:ext cx="9525" cy="523875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9" name="AutoShape 28"/>
              <p:cNvSpPr>
                <a:spLocks noChangeShapeType="1"/>
              </p:cNvSpPr>
              <p:nvPr/>
            </p:nvSpPr>
            <p:spPr bwMode="auto">
              <a:xfrm>
                <a:off x="2148840" y="2895600"/>
                <a:ext cx="447675" cy="0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0" name="AutoShape 29"/>
              <p:cNvSpPr>
                <a:spLocks noChangeShapeType="1"/>
              </p:cNvSpPr>
              <p:nvPr/>
            </p:nvSpPr>
            <p:spPr bwMode="auto">
              <a:xfrm flipV="1">
                <a:off x="2590800" y="2362200"/>
                <a:ext cx="0" cy="523875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1" name="AutoShape 30"/>
              <p:cNvSpPr>
                <a:spLocks noChangeShapeType="1"/>
              </p:cNvSpPr>
              <p:nvPr/>
            </p:nvSpPr>
            <p:spPr bwMode="auto">
              <a:xfrm>
                <a:off x="2133600" y="2590800"/>
                <a:ext cx="447675" cy="0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2" name="AutoShape 31"/>
              <p:cNvSpPr>
                <a:spLocks noChangeShapeType="1"/>
              </p:cNvSpPr>
              <p:nvPr/>
            </p:nvSpPr>
            <p:spPr bwMode="auto">
              <a:xfrm flipH="1" flipV="1">
                <a:off x="2362200" y="1905000"/>
                <a:ext cx="0" cy="685800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3" name="AutoShape 32"/>
              <p:cNvSpPr>
                <a:spLocks noChangeShapeType="1"/>
              </p:cNvSpPr>
              <p:nvPr/>
            </p:nvSpPr>
            <p:spPr bwMode="auto">
              <a:xfrm flipH="1">
                <a:off x="2362199" y="2905560"/>
                <a:ext cx="0" cy="442800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cxnSp>
          <p:nvCxnSpPr>
            <p:cNvPr id="165" name="Straight Connector 164"/>
            <p:cNvCxnSpPr/>
            <p:nvPr/>
          </p:nvCxnSpPr>
          <p:spPr>
            <a:xfrm rot="5400000">
              <a:off x="3139440" y="1893945"/>
              <a:ext cx="73152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>
            <a:xfrm rot="5400000">
              <a:off x="1699258" y="1893526"/>
              <a:ext cx="73152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190"/>
          <p:cNvGrpSpPr/>
          <p:nvPr/>
        </p:nvGrpSpPr>
        <p:grpSpPr>
          <a:xfrm>
            <a:off x="6617477" y="2338800"/>
            <a:ext cx="617059" cy="2606448"/>
            <a:chOff x="2133600" y="1674600"/>
            <a:chExt cx="462915" cy="2606448"/>
          </a:xfrm>
        </p:grpSpPr>
        <p:sp>
          <p:nvSpPr>
            <p:cNvPr id="192" name="AutoShape 27"/>
            <p:cNvSpPr>
              <a:spLocks noChangeShapeType="1"/>
            </p:cNvSpPr>
            <p:nvPr/>
          </p:nvSpPr>
          <p:spPr bwMode="auto">
            <a:xfrm>
              <a:off x="2133600" y="2362200"/>
              <a:ext cx="9525" cy="523875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AutoShape 28"/>
            <p:cNvSpPr>
              <a:spLocks noChangeShapeType="1"/>
            </p:cNvSpPr>
            <p:nvPr/>
          </p:nvSpPr>
          <p:spPr bwMode="auto">
            <a:xfrm>
              <a:off x="2148840" y="2881200"/>
              <a:ext cx="447675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AutoShape 29"/>
            <p:cNvSpPr>
              <a:spLocks noChangeShapeType="1"/>
            </p:cNvSpPr>
            <p:nvPr/>
          </p:nvSpPr>
          <p:spPr bwMode="auto">
            <a:xfrm flipV="1">
              <a:off x="2590800" y="2362200"/>
              <a:ext cx="0" cy="523875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AutoShape 30"/>
            <p:cNvSpPr>
              <a:spLocks noChangeShapeType="1"/>
            </p:cNvSpPr>
            <p:nvPr/>
          </p:nvSpPr>
          <p:spPr bwMode="auto">
            <a:xfrm>
              <a:off x="2133600" y="2590800"/>
              <a:ext cx="447675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AutoShape 31"/>
            <p:cNvSpPr>
              <a:spLocks noChangeShapeType="1"/>
            </p:cNvSpPr>
            <p:nvPr/>
          </p:nvSpPr>
          <p:spPr bwMode="auto">
            <a:xfrm flipH="1" flipV="1">
              <a:off x="2376600" y="1674600"/>
              <a:ext cx="0" cy="91440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AutoShape 32"/>
            <p:cNvSpPr>
              <a:spLocks noChangeShapeType="1"/>
            </p:cNvSpPr>
            <p:nvPr/>
          </p:nvSpPr>
          <p:spPr bwMode="auto">
            <a:xfrm flipH="1">
              <a:off x="2362199" y="2891160"/>
              <a:ext cx="0" cy="1389888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8" name="Group 2"/>
          <p:cNvGrpSpPr>
            <a:grpSpLocks/>
          </p:cNvGrpSpPr>
          <p:nvPr/>
        </p:nvGrpSpPr>
        <p:grpSpPr bwMode="auto">
          <a:xfrm rot="5400000">
            <a:off x="4758093" y="3391676"/>
            <a:ext cx="2609855" cy="507652"/>
            <a:chOff x="-414" y="10440"/>
            <a:chExt cx="18543" cy="2346"/>
          </a:xfrm>
        </p:grpSpPr>
        <p:grpSp>
          <p:nvGrpSpPr>
            <p:cNvPr id="61" name="Group 3"/>
            <p:cNvGrpSpPr>
              <a:grpSpLocks/>
            </p:cNvGrpSpPr>
            <p:nvPr/>
          </p:nvGrpSpPr>
          <p:grpSpPr bwMode="auto">
            <a:xfrm rot="16200000">
              <a:off x="3690" y="10164"/>
              <a:ext cx="1260" cy="1812"/>
              <a:chOff x="5220" y="9900"/>
              <a:chExt cx="900" cy="2160"/>
            </a:xfrm>
          </p:grpSpPr>
          <p:sp>
            <p:nvSpPr>
              <p:cNvPr id="220" name="Arc 4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1" name="Arc 5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62" name="Group 6"/>
            <p:cNvGrpSpPr>
              <a:grpSpLocks/>
            </p:cNvGrpSpPr>
            <p:nvPr/>
          </p:nvGrpSpPr>
          <p:grpSpPr bwMode="auto">
            <a:xfrm rot="16200000">
              <a:off x="5040" y="9720"/>
              <a:ext cx="1260" cy="2700"/>
              <a:chOff x="5220" y="9900"/>
              <a:chExt cx="900" cy="2160"/>
            </a:xfrm>
          </p:grpSpPr>
          <p:sp>
            <p:nvSpPr>
              <p:cNvPr id="218" name="Arc 7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9" name="Arc 8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63" name="Group 9"/>
            <p:cNvGrpSpPr>
              <a:grpSpLocks/>
            </p:cNvGrpSpPr>
            <p:nvPr/>
          </p:nvGrpSpPr>
          <p:grpSpPr bwMode="auto">
            <a:xfrm rot="16200000">
              <a:off x="6840" y="9720"/>
              <a:ext cx="1260" cy="2700"/>
              <a:chOff x="5220" y="9900"/>
              <a:chExt cx="900" cy="2160"/>
            </a:xfrm>
          </p:grpSpPr>
          <p:sp>
            <p:nvSpPr>
              <p:cNvPr id="216" name="Arc 10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7" name="Arc 11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79" name="Group 12"/>
            <p:cNvGrpSpPr>
              <a:grpSpLocks/>
            </p:cNvGrpSpPr>
            <p:nvPr/>
          </p:nvGrpSpPr>
          <p:grpSpPr bwMode="auto">
            <a:xfrm rot="16200000">
              <a:off x="8191" y="10169"/>
              <a:ext cx="1257" cy="1800"/>
              <a:chOff x="5220" y="9900"/>
              <a:chExt cx="900" cy="2160"/>
            </a:xfrm>
          </p:grpSpPr>
          <p:sp>
            <p:nvSpPr>
              <p:cNvPr id="214" name="Arc 13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5" name="Arc 14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cxnSp>
          <p:nvCxnSpPr>
            <p:cNvPr id="203" name="AutoShape 15"/>
            <p:cNvCxnSpPr>
              <a:cxnSpLocks noChangeShapeType="1"/>
            </p:cNvCxnSpPr>
            <p:nvPr/>
          </p:nvCxnSpPr>
          <p:spPr bwMode="auto">
            <a:xfrm flipH="1">
              <a:off x="-414" y="11704"/>
              <a:ext cx="3898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4" name="AutoShape 16"/>
            <p:cNvCxnSpPr>
              <a:cxnSpLocks noChangeShapeType="1"/>
            </p:cNvCxnSpPr>
            <p:nvPr/>
          </p:nvCxnSpPr>
          <p:spPr bwMode="auto">
            <a:xfrm flipH="1">
              <a:off x="9618" y="11699"/>
              <a:ext cx="8511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87" name="Group 17"/>
            <p:cNvGrpSpPr>
              <a:grpSpLocks/>
            </p:cNvGrpSpPr>
            <p:nvPr/>
          </p:nvGrpSpPr>
          <p:grpSpPr bwMode="auto">
            <a:xfrm rot="5400000">
              <a:off x="4233" y="11793"/>
              <a:ext cx="1079" cy="902"/>
              <a:chOff x="5220" y="9900"/>
              <a:chExt cx="900" cy="2160"/>
            </a:xfrm>
          </p:grpSpPr>
          <p:sp>
            <p:nvSpPr>
              <p:cNvPr id="212" name="Arc 18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3" name="Arc 19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90" name="Group 20"/>
            <p:cNvGrpSpPr>
              <a:grpSpLocks/>
            </p:cNvGrpSpPr>
            <p:nvPr/>
          </p:nvGrpSpPr>
          <p:grpSpPr bwMode="auto">
            <a:xfrm rot="5400000">
              <a:off x="6033" y="11796"/>
              <a:ext cx="1079" cy="902"/>
              <a:chOff x="5220" y="9900"/>
              <a:chExt cx="900" cy="2160"/>
            </a:xfrm>
          </p:grpSpPr>
          <p:sp>
            <p:nvSpPr>
              <p:cNvPr id="210" name="Arc 21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1" name="Arc 22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92" name="Group 23"/>
            <p:cNvGrpSpPr>
              <a:grpSpLocks/>
            </p:cNvGrpSpPr>
            <p:nvPr/>
          </p:nvGrpSpPr>
          <p:grpSpPr bwMode="auto">
            <a:xfrm rot="5400000">
              <a:off x="7832" y="11706"/>
              <a:ext cx="1082" cy="902"/>
              <a:chOff x="5140" y="9900"/>
              <a:chExt cx="902" cy="2160"/>
            </a:xfrm>
          </p:grpSpPr>
          <p:sp>
            <p:nvSpPr>
              <p:cNvPr id="208" name="Arc 24"/>
              <p:cNvSpPr>
                <a:spLocks/>
              </p:cNvSpPr>
              <p:nvPr/>
            </p:nvSpPr>
            <p:spPr bwMode="auto">
              <a:xfrm>
                <a:off x="5142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9" name="Arc 25"/>
              <p:cNvSpPr>
                <a:spLocks/>
              </p:cNvSpPr>
              <p:nvPr/>
            </p:nvSpPr>
            <p:spPr bwMode="auto">
              <a:xfrm flipV="1">
                <a:off x="514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224" name="Straight Connector 223"/>
          <p:cNvCxnSpPr/>
          <p:nvPr/>
        </p:nvCxnSpPr>
        <p:spPr>
          <a:xfrm>
            <a:off x="4747169" y="1828800"/>
            <a:ext cx="390042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/>
          <p:cNvCxnSpPr/>
          <p:nvPr/>
        </p:nvCxnSpPr>
        <p:spPr>
          <a:xfrm>
            <a:off x="2416555" y="1841696"/>
            <a:ext cx="406294" cy="1588"/>
          </a:xfrm>
          <a:prstGeom prst="line">
            <a:avLst/>
          </a:prstGeom>
          <a:ln w="2540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/>
          <p:cNvCxnSpPr/>
          <p:nvPr/>
        </p:nvCxnSpPr>
        <p:spPr>
          <a:xfrm>
            <a:off x="1166896" y="1840200"/>
            <a:ext cx="1218883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/>
          <p:cNvCxnSpPr/>
          <p:nvPr/>
        </p:nvCxnSpPr>
        <p:spPr>
          <a:xfrm>
            <a:off x="5127687" y="1818167"/>
            <a:ext cx="914162" cy="533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/>
          <p:cNvCxnSpPr/>
          <p:nvPr/>
        </p:nvCxnSpPr>
        <p:spPr>
          <a:xfrm>
            <a:off x="5126664" y="1828800"/>
            <a:ext cx="1828324" cy="51206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/>
          <p:cNvSpPr txBox="1"/>
          <p:nvPr/>
        </p:nvSpPr>
        <p:spPr>
          <a:xfrm>
            <a:off x="3555074" y="2362200"/>
            <a:ext cx="711015" cy="369318"/>
          </a:xfrm>
          <a:prstGeom prst="rect">
            <a:avLst/>
          </a:prstGeom>
          <a:noFill/>
        </p:spPr>
        <p:txBody>
          <a:bodyPr wrap="square" lIns="91425" tIns="45713" rIns="91425" bIns="45713" rtlCol="0">
            <a:spAutoFit/>
          </a:bodyPr>
          <a:lstStyle/>
          <a:p>
            <a:r>
              <a:rPr lang="en-GB" sz="1800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GB" sz="18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18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2" name="TextBox 231"/>
          <p:cNvSpPr txBox="1"/>
          <p:nvPr/>
        </p:nvSpPr>
        <p:spPr>
          <a:xfrm>
            <a:off x="3492048" y="870099"/>
            <a:ext cx="682065" cy="369318"/>
          </a:xfrm>
          <a:prstGeom prst="rect">
            <a:avLst/>
          </a:prstGeom>
          <a:noFill/>
        </p:spPr>
        <p:txBody>
          <a:bodyPr wrap="square" lIns="91425" tIns="45713" rIns="91425" bIns="45713" rtlCol="0">
            <a:spAutoFit/>
          </a:bodyPr>
          <a:lstStyle/>
          <a:p>
            <a:r>
              <a:rPr lang="en-GB" sz="18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GB" sz="18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18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3" name="TextBox 21"/>
          <p:cNvSpPr txBox="1"/>
          <p:nvPr/>
        </p:nvSpPr>
        <p:spPr>
          <a:xfrm>
            <a:off x="5992839" y="3733800"/>
            <a:ext cx="711015" cy="369318"/>
          </a:xfrm>
          <a:prstGeom prst="rect">
            <a:avLst/>
          </a:prstGeom>
          <a:noFill/>
        </p:spPr>
        <p:txBody>
          <a:bodyPr wrap="square" lIns="91425" tIns="45713" rIns="91425" bIns="45713" rtlCol="0">
            <a:spAutoFit/>
          </a:bodyPr>
          <a:lstStyle/>
          <a:p>
            <a:r>
              <a:rPr lang="en-GB" sz="1800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GB" sz="18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18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4" name="TextBox 20"/>
          <p:cNvSpPr txBox="1"/>
          <p:nvPr/>
        </p:nvSpPr>
        <p:spPr>
          <a:xfrm>
            <a:off x="6912601" y="3505200"/>
            <a:ext cx="603843" cy="369318"/>
          </a:xfrm>
          <a:prstGeom prst="rect">
            <a:avLst/>
          </a:prstGeom>
          <a:noFill/>
        </p:spPr>
        <p:txBody>
          <a:bodyPr wrap="square" lIns="91425" tIns="45713" rIns="91425" bIns="45713" rtlCol="0">
            <a:spAutoFit/>
          </a:bodyPr>
          <a:lstStyle/>
          <a:p>
            <a:r>
              <a:rPr lang="en-GB" sz="18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GB" sz="18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18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406294" y="3657600"/>
            <a:ext cx="71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f(t)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17848" y="3200400"/>
            <a:ext cx="711015" cy="369318"/>
          </a:xfrm>
          <a:prstGeom prst="rect">
            <a:avLst/>
          </a:prstGeom>
          <a:noFill/>
        </p:spPr>
        <p:txBody>
          <a:bodyPr wrap="square" lIns="91425" tIns="45713" rIns="91425" bIns="45713" rtlCol="0">
            <a:spAutoFit/>
          </a:bodyPr>
          <a:lstStyle/>
          <a:p>
            <a:r>
              <a:rPr lang="en-GB" sz="180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GB" sz="18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18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4841139" y="3190200"/>
            <a:ext cx="711015" cy="369318"/>
          </a:xfrm>
          <a:prstGeom prst="rect">
            <a:avLst/>
          </a:prstGeom>
          <a:noFill/>
        </p:spPr>
        <p:txBody>
          <a:bodyPr wrap="square" lIns="91425" tIns="45713" rIns="91425" bIns="45713" rtlCol="0">
            <a:spAutoFit/>
          </a:bodyPr>
          <a:lstStyle/>
          <a:p>
            <a:r>
              <a:rPr lang="en-GB" sz="180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GB" sz="18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18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8" name="Rectangle 237"/>
          <p:cNvSpPr/>
          <p:nvPr/>
        </p:nvSpPr>
        <p:spPr>
          <a:xfrm>
            <a:off x="1941713" y="1414132"/>
            <a:ext cx="81258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6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(t)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4875531" y="1446031"/>
            <a:ext cx="9141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6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(t)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523603" y="5105400"/>
            <a:ext cx="5180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latin typeface="Times New Roman" pitchFamily="18" charset="0"/>
                <a:cs typeface="Times New Roman" pitchFamily="18" charset="0"/>
              </a:rPr>
              <a:t>fig.(4)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Mechanical Equivalent Network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8735325" y="5638800"/>
            <a:ext cx="7681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00" dirty="0">
                <a:latin typeface="Times New Roman" pitchFamily="18" charset="0"/>
                <a:cs typeface="Times New Roman" pitchFamily="18" charset="0"/>
              </a:rPr>
              <a:t>fig.(3)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graphicFrame>
        <p:nvGraphicFramePr>
          <p:cNvPr id="95235" name="Content Placeholder 5"/>
          <p:cNvGraphicFramePr>
            <a:graphicFrameLocks noGrp="1" noChangeAspect="1"/>
          </p:cNvGraphicFramePr>
          <p:nvPr>
            <p:ph idx="1"/>
          </p:nvPr>
        </p:nvGraphicFramePr>
        <p:xfrm>
          <a:off x="237501" y="563530"/>
          <a:ext cx="11761022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Equation 3.0" r:id="rId2" imgW="3288960" imgH="1079280" progId="Equation.3">
                  <p:embed/>
                </p:oleObj>
              </mc:Choice>
              <mc:Fallback>
                <p:oleObj name="Microsoft Equation 3.0" r:id="rId2" imgW="3288960" imgH="1079280" progId="Equation.3">
                  <p:embed/>
                  <p:pic>
                    <p:nvPicPr>
                      <p:cNvPr id="0" name="Content Placeholder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501" y="563530"/>
                        <a:ext cx="11761022" cy="289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47" y="381000"/>
            <a:ext cx="11782531" cy="6019800"/>
          </a:xfrm>
        </p:spPr>
        <p:txBody>
          <a:bodyPr/>
          <a:lstStyle/>
          <a:p>
            <a:pPr algn="ctr">
              <a:buNone/>
            </a:pPr>
            <a:endParaRPr lang="en-US" dirty="0"/>
          </a:p>
          <a:p>
            <a:pPr algn="ctr">
              <a:buNone/>
            </a:pPr>
            <a:endParaRPr lang="en-US" dirty="0"/>
          </a:p>
          <a:p>
            <a:pPr algn="ctr">
              <a:buNone/>
            </a:pPr>
            <a:endParaRPr lang="en-US" dirty="0"/>
          </a:p>
          <a:p>
            <a:pPr algn="ctr">
              <a:buNone/>
            </a:pPr>
            <a:r>
              <a:rPr lang="en-US" sz="54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THANK YOU</a:t>
            </a:r>
          </a:p>
          <a:p>
            <a:pPr algn="ctr">
              <a:buNone/>
            </a:pPr>
            <a:endParaRPr lang="en-US" sz="54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1040</TotalTime>
  <Words>1639</Words>
  <Application>Microsoft Office PowerPoint</Application>
  <PresentationFormat>Custom</PresentationFormat>
  <Paragraphs>321</Paragraphs>
  <Slides>36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Calibri</vt:lpstr>
      <vt:lpstr>Cambria Math</vt:lpstr>
      <vt:lpstr>Tahoma</vt:lpstr>
      <vt:lpstr>Times New Roman</vt:lpstr>
      <vt:lpstr>Wingdings</vt:lpstr>
      <vt:lpstr>Office Theme</vt:lpstr>
      <vt:lpstr>Equation</vt:lpstr>
      <vt:lpstr>Microsoft Equation 3.0</vt:lpstr>
      <vt:lpstr>PowerPoint Presentation</vt:lpstr>
      <vt:lpstr>BOOKS</vt:lpstr>
      <vt:lpstr>OUTLINE</vt:lpstr>
      <vt:lpstr>TRANSFER FUNCTION</vt:lpstr>
      <vt:lpstr>PowerPoint Presentation</vt:lpstr>
      <vt:lpstr>POLES AND ZEROS OF A TRANSFER FUNCTION</vt:lpstr>
      <vt:lpstr>PowerPoint Presentation</vt:lpstr>
      <vt:lpstr>PowerPoint Presentation</vt:lpstr>
      <vt:lpstr>  Find the transfer function of the given figure. </vt:lpstr>
      <vt:lpstr>PowerPoint Presentation</vt:lpstr>
      <vt:lpstr>PowerPoint Presentation</vt:lpstr>
      <vt:lpstr>PowerPoint Presentation</vt:lpstr>
      <vt:lpstr>MECHANICAL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D’ALEMBERT PRINCIPLE</vt:lpstr>
      <vt:lpstr>D’ALEMBERT PRINCIPLE contd……</vt:lpstr>
      <vt:lpstr>PowerPoint Presentation</vt:lpstr>
      <vt:lpstr>PowerPoint Presentation</vt:lpstr>
      <vt:lpstr>PowerPoint Presentation</vt:lpstr>
      <vt:lpstr>TANSLATIONAL-ROTATIONAL COUNTERPARTS</vt:lpstr>
      <vt:lpstr>PowerPoint Presentation</vt:lpstr>
      <vt:lpstr>PowerPoint Presentation</vt:lpstr>
      <vt:lpstr>PowerPoint Presentation</vt:lpstr>
      <vt:lpstr>figure</vt:lpstr>
      <vt:lpstr>FREE BODY DAIGRAMS</vt:lpstr>
      <vt:lpstr>PowerPoint Presentation</vt:lpstr>
      <vt:lpstr>FREE BODY DAIGRAMS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MECHANICAL SYSTEM</dc:title>
  <dc:creator>Mohammed</dc:creator>
  <cp:lastModifiedBy>hasansaeedcontrol@gmail.com</cp:lastModifiedBy>
  <cp:revision>134</cp:revision>
  <dcterms:created xsi:type="dcterms:W3CDTF">2015-06-28T12:59:07Z</dcterms:created>
  <dcterms:modified xsi:type="dcterms:W3CDTF">2026-03-30T05:36:28Z</dcterms:modified>
</cp:coreProperties>
</file>